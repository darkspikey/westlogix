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5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1226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DCBF1E3A-D4B9-95DF-8BA2-5F715B21E55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1452225" y="6642100"/>
            <a:ext cx="7016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DE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Confidential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2"/>
          <p:cNvSpPr/>
          <p:nvPr/>
        </p:nvSpPr>
        <p:spPr>
          <a:xfrm>
            <a:off x="640080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Mai 2026  ·  neoimpulse GmbH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02920" y="1645920"/>
            <a:ext cx="11247120" cy="0"/>
          </a:xfrm>
          <a:prstGeom prst="line">
            <a:avLst/>
          </a:prstGeom>
          <a:noFill/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4"/>
          <p:cNvSpPr/>
          <p:nvPr/>
        </p:nvSpPr>
        <p:spPr>
          <a:xfrm>
            <a:off x="502920" y="182880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Dein Lager.</a:t>
            </a:r>
            <a:endParaRPr lang="en-US" sz="5600" dirty="0"/>
          </a:p>
        </p:txBody>
      </p:sp>
      <p:sp>
        <p:nvSpPr>
          <p:cNvPr id="8" name="Text 5"/>
          <p:cNvSpPr/>
          <p:nvPr/>
        </p:nvSpPr>
        <p:spPr>
          <a:xfrm>
            <a:off x="502920" y="2606040"/>
            <a:ext cx="9144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Endlich intelligent.</a:t>
            </a:r>
            <a:endParaRPr lang="en-US" sz="5600" dirty="0"/>
          </a:p>
        </p:txBody>
      </p:sp>
      <p:sp>
        <p:nvSpPr>
          <p:cNvPr id="9" name="Text 6"/>
          <p:cNvSpPr/>
          <p:nvPr/>
        </p:nvSpPr>
        <p:spPr>
          <a:xfrm>
            <a:off x="502920" y="361188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KI-gestützte Optimierung für SAP EWM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Wegezeiten · Picker-Planung · Echtzeit-ETA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02920" y="4846320"/>
            <a:ext cx="26974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8"/>
          <p:cNvSpPr/>
          <p:nvPr/>
        </p:nvSpPr>
        <p:spPr>
          <a:xfrm>
            <a:off x="502920" y="4846320"/>
            <a:ext cx="2697480" cy="4572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9"/>
          <p:cNvSpPr/>
          <p:nvPr/>
        </p:nvSpPr>
        <p:spPr>
          <a:xfrm>
            <a:off x="594360" y="498348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–62%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594360" y="5650992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Wegezeit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429000" y="4846320"/>
            <a:ext cx="26974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2"/>
          <p:cNvSpPr/>
          <p:nvPr/>
        </p:nvSpPr>
        <p:spPr>
          <a:xfrm>
            <a:off x="3429000" y="4846320"/>
            <a:ext cx="2697480" cy="45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3"/>
          <p:cNvSpPr/>
          <p:nvPr/>
        </p:nvSpPr>
        <p:spPr>
          <a:xfrm>
            <a:off x="3520440" y="498348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±4 Min</a:t>
            </a:r>
            <a:endParaRPr lang="en-US" sz="3200" dirty="0"/>
          </a:p>
        </p:txBody>
      </p:sp>
      <p:sp>
        <p:nvSpPr>
          <p:cNvPr id="17" name="Text 14"/>
          <p:cNvSpPr/>
          <p:nvPr/>
        </p:nvSpPr>
        <p:spPr>
          <a:xfrm>
            <a:off x="3520440" y="5650992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Genauigkeit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355080" y="4846320"/>
            <a:ext cx="26974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6"/>
          <p:cNvSpPr/>
          <p:nvPr/>
        </p:nvSpPr>
        <p:spPr>
          <a:xfrm>
            <a:off x="6355080" y="4846320"/>
            <a:ext cx="269748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7"/>
          <p:cNvSpPr/>
          <p:nvPr/>
        </p:nvSpPr>
        <p:spPr>
          <a:xfrm>
            <a:off x="6446520" y="498348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+20%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6446520" y="5650992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Pick-Kapazität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418320" y="5029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Präsentiert von Kevin West</a:t>
            </a:r>
            <a:endParaRPr lang="en-US" sz="1000" dirty="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A792E6EC-8572-CEF8-A4DD-E1A01C81AE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47575" y="-877744"/>
            <a:ext cx="4731940" cy="31546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DF4F9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2"/>
          <p:cNvSpPr/>
          <p:nvPr/>
        </p:nvSpPr>
        <p:spPr>
          <a:xfrm>
            <a:off x="32004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PROBLEM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EWM verwaltet.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 optimiert es wirklich?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457200" y="2377440"/>
            <a:ext cx="3566160" cy="4114800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5"/>
          <p:cNvSpPr/>
          <p:nvPr/>
        </p:nvSpPr>
        <p:spPr>
          <a:xfrm>
            <a:off x="457200" y="2377440"/>
            <a:ext cx="3566160" cy="4572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/>
          <p:nvPr/>
        </p:nvSpPr>
        <p:spPr>
          <a:xfrm>
            <a:off x="640080" y="2487168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🗺️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640080" y="312724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Lange Wegezeiten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" y="3584448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 vergibt Aufgaben ohne Picker-Position oder optimale Reihenfolge zu kennen. 35% der Schichtzeit = reine Laufzeit.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5029200"/>
            <a:ext cx="3200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0"/>
          <p:cNvSpPr/>
          <p:nvPr/>
        </p:nvSpPr>
        <p:spPr>
          <a:xfrm>
            <a:off x="731520" y="510235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731520" y="565099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Schichtzeit = Laufzeit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206240" y="2377440"/>
            <a:ext cx="3566160" cy="4114800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Shape 13"/>
          <p:cNvSpPr/>
          <p:nvPr/>
        </p:nvSpPr>
        <p:spPr>
          <a:xfrm>
            <a:off x="4206240" y="2377440"/>
            <a:ext cx="3566160" cy="45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4"/>
          <p:cNvSpPr/>
          <p:nvPr/>
        </p:nvSpPr>
        <p:spPr>
          <a:xfrm>
            <a:off x="4389120" y="2487168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⏸️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4389120" y="312724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Unplanbare Pausen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389120" y="3584448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Pausen und Fokuszeiten sind für EWM unsichtbar. Aufträge landen bei Mitarbeitern die gerade nicht verfügbar sind.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89120" y="5029200"/>
            <a:ext cx="3200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8"/>
          <p:cNvSpPr/>
          <p:nvPr/>
        </p:nvSpPr>
        <p:spPr>
          <a:xfrm>
            <a:off x="4480560" y="510235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Min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4480560" y="565099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Ø Wartezeit / Auftrag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955280" y="2377440"/>
            <a:ext cx="3566160" cy="4114800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4" name="Shape 21"/>
          <p:cNvSpPr/>
          <p:nvPr/>
        </p:nvSpPr>
        <p:spPr>
          <a:xfrm>
            <a:off x="7955280" y="2377440"/>
            <a:ext cx="356616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2"/>
          <p:cNvSpPr/>
          <p:nvPr/>
        </p:nvSpPr>
        <p:spPr>
          <a:xfrm>
            <a:off x="8138160" y="2487168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❓</a:t>
            </a:r>
            <a:endParaRPr lang="en-US" sz="2400" dirty="0"/>
          </a:p>
        </p:txBody>
      </p:sp>
      <p:sp>
        <p:nvSpPr>
          <p:cNvPr id="26" name="Text 23"/>
          <p:cNvSpPr/>
          <p:nvPr/>
        </p:nvSpPr>
        <p:spPr>
          <a:xfrm>
            <a:off x="8138160" y="312724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echte ETA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8138160" y="3584448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"Wann ist der Auftrag fertig?" – niemand kann es sicher beantworten. Versand plant mit ±45 Min Puffer. Lkw warten.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8138160" y="5029200"/>
            <a:ext cx="3200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6"/>
          <p:cNvSpPr/>
          <p:nvPr/>
        </p:nvSpPr>
        <p:spPr>
          <a:xfrm>
            <a:off x="8229600" y="510235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±45 Min</a:t>
            </a:r>
            <a:endParaRPr lang="en-US" sz="2600" dirty="0"/>
          </a:p>
        </p:txBody>
      </p:sp>
      <p:sp>
        <p:nvSpPr>
          <p:cNvPr id="30" name="Text 27"/>
          <p:cNvSpPr/>
          <p:nvPr/>
        </p:nvSpPr>
        <p:spPr>
          <a:xfrm>
            <a:off x="8229600" y="565099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ETA-Abweichung heute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11612880" y="6583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9</a:t>
            </a:r>
            <a:endParaRPr lang="en-US" sz="900" dirty="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52B11374-C5D3-CDC9-6344-C69F44760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26098" y="-937234"/>
            <a:ext cx="4731940" cy="315462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DF4F9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2"/>
          <p:cNvSpPr/>
          <p:nvPr/>
        </p:nvSpPr>
        <p:spPr>
          <a:xfrm>
            <a:off x="32004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LÖSUNG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WestLogiX – Smart Pick Engine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457200" y="1810512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KI-Agent der direkt mit SAP EWM spricht und in Echtzeit optimiert. Keine manuelle Koordination mehr.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2377440"/>
            <a:ext cx="3566160" cy="4206240"/>
          </a:xfrm>
          <a:prstGeom prst="rect">
            <a:avLst/>
          </a:prstGeom>
          <a:solidFill>
            <a:srgbClr val="F0FAFA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6"/>
          <p:cNvSpPr/>
          <p:nvPr/>
        </p:nvSpPr>
        <p:spPr>
          <a:xfrm>
            <a:off x="457200" y="2377440"/>
            <a:ext cx="3566160" cy="4572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7"/>
          <p:cNvSpPr/>
          <p:nvPr/>
        </p:nvSpPr>
        <p:spPr>
          <a:xfrm>
            <a:off x="640080" y="2487168"/>
            <a:ext cx="548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0080" y="29718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Route Engine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3429000"/>
            <a:ext cx="32004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Nearest-Neighbor TSP berechnet die optimale Pick-Reihenfolge automatisch. Weniger Laufweg – mehr Picks pro Schicht.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5029200"/>
            <a:ext cx="32004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1"/>
          <p:cNvSpPr/>
          <p:nvPr/>
        </p:nvSpPr>
        <p:spPr>
          <a:xfrm>
            <a:off x="731520" y="5120640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–62 %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731520" y="568756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Wegezeit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206240" y="2377440"/>
            <a:ext cx="3566160" cy="4206240"/>
          </a:xfrm>
          <a:prstGeom prst="rect">
            <a:avLst/>
          </a:prstGeom>
          <a:solidFill>
            <a:srgbClr val="EEF2F8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Shape 14"/>
          <p:cNvSpPr/>
          <p:nvPr/>
        </p:nvSpPr>
        <p:spPr>
          <a:xfrm>
            <a:off x="4206240" y="2377440"/>
            <a:ext cx="3566160" cy="45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5"/>
          <p:cNvSpPr/>
          <p:nvPr/>
        </p:nvSpPr>
        <p:spPr>
          <a:xfrm>
            <a:off x="4389120" y="2487168"/>
            <a:ext cx="548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389120" y="29718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Picker Intelligence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389120" y="3429000"/>
            <a:ext cx="32004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ist verfügbar? Wer hat Pause? Wer pickt am schnellsten in Zone B? WestLogiX weiß es – und verteilt proaktiv.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389120" y="5029200"/>
            <a:ext cx="32004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Text 19"/>
          <p:cNvSpPr/>
          <p:nvPr/>
        </p:nvSpPr>
        <p:spPr>
          <a:xfrm>
            <a:off x="4480560" y="5120640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+20 %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4480560" y="568756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Kapazität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955280" y="2377440"/>
            <a:ext cx="3566160" cy="4206240"/>
          </a:xfrm>
          <a:prstGeom prst="rect">
            <a:avLst/>
          </a:prstGeom>
          <a:solidFill>
            <a:srgbClr val="FEF9EE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5" name="Shape 22"/>
          <p:cNvSpPr/>
          <p:nvPr/>
        </p:nvSpPr>
        <p:spPr>
          <a:xfrm>
            <a:off x="7955280" y="2377440"/>
            <a:ext cx="356616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3"/>
          <p:cNvSpPr/>
          <p:nvPr/>
        </p:nvSpPr>
        <p:spPr>
          <a:xfrm>
            <a:off x="8138160" y="2487168"/>
            <a:ext cx="548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138160" y="29718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Engine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8138160" y="3429000"/>
            <a:ext cx="32004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Echtzeit-ETA pro Auftrag basierend auf Picker-Performance und aktueller Kapazität. Versand plant. Kein Raten mehr.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8138160" y="5029200"/>
            <a:ext cx="32004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27"/>
          <p:cNvSpPr/>
          <p:nvPr/>
        </p:nvSpPr>
        <p:spPr>
          <a:xfrm>
            <a:off x="8229600" y="5120640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±4 Min</a:t>
            </a:r>
            <a:endParaRPr lang="en-US" sz="2800" dirty="0"/>
          </a:p>
        </p:txBody>
      </p:sp>
      <p:sp>
        <p:nvSpPr>
          <p:cNvPr id="31" name="Text 28"/>
          <p:cNvSpPr/>
          <p:nvPr/>
        </p:nvSpPr>
        <p:spPr>
          <a:xfrm>
            <a:off x="8229600" y="568756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11612880" y="6583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9</a:t>
            </a:r>
            <a:endParaRPr lang="en-US" sz="900" dirty="0"/>
          </a:p>
        </p:txBody>
      </p:sp>
      <p:pic>
        <p:nvPicPr>
          <p:cNvPr id="33" name="Grafik 32">
            <a:extLst>
              <a:ext uri="{FF2B5EF4-FFF2-40B4-BE49-F238E27FC236}">
                <a16:creationId xmlns:a16="http://schemas.microsoft.com/office/drawing/2014/main" id="{05642FD3-6A46-EFBB-6418-AB398F1F8E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26098" y="-937234"/>
            <a:ext cx="4731940" cy="31546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DF4F9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2"/>
          <p:cNvSpPr/>
          <p:nvPr/>
        </p:nvSpPr>
        <p:spPr>
          <a:xfrm>
            <a:off x="32004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 ARCHITEKTUR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Plug-in. Nicht Umbau.</a:t>
            </a:r>
            <a:endParaRPr lang="en-US" sz="30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783080"/>
            <a:ext cx="7315200" cy="47548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955280" y="1783080"/>
            <a:ext cx="3931920" cy="4754880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5"/>
          <p:cNvSpPr/>
          <p:nvPr/>
        </p:nvSpPr>
        <p:spPr>
          <a:xfrm>
            <a:off x="7955280" y="1783080"/>
            <a:ext cx="3931920" cy="4572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6"/>
          <p:cNvSpPr/>
          <p:nvPr/>
        </p:nvSpPr>
        <p:spPr>
          <a:xfrm>
            <a:off x="8138160" y="1920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in 2 Stunden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8138160" y="2514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8595360" y="251460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SEGW Service anlegen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8595360" y="2916936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Eigener Z-OData-Service in SAP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138160" y="3593592"/>
            <a:ext cx="3566160" cy="0"/>
          </a:xfrm>
          <a:prstGeom prst="line">
            <a:avLst/>
          </a:prstGeom>
          <a:noFill/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Text 11"/>
          <p:cNvSpPr/>
          <p:nvPr/>
        </p:nvSpPr>
        <p:spPr>
          <a:xfrm>
            <a:off x="8138160" y="37033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8595360" y="370332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deployen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8595360" y="4105656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 · lokal oder Cloud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8138160" y="4782312"/>
            <a:ext cx="3566160" cy="0"/>
          </a:xfrm>
          <a:prstGeom prst="line">
            <a:avLst/>
          </a:prstGeom>
          <a:noFill/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5"/>
          <p:cNvSpPr/>
          <p:nvPr/>
        </p:nvSpPr>
        <p:spPr>
          <a:xfrm>
            <a:off x="8138160" y="4892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8595360" y="489204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öffnen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595360" y="5294376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Sofort live – keine Client-Installation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8138160" y="5806440"/>
            <a:ext cx="3566160" cy="594360"/>
          </a:xfrm>
          <a:prstGeom prst="rect">
            <a:avLst/>
          </a:prstGeom>
          <a:solidFill>
            <a:srgbClr val="E8FAF5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19"/>
          <p:cNvSpPr/>
          <p:nvPr/>
        </p:nvSpPr>
        <p:spPr>
          <a:xfrm>
            <a:off x="8229600" y="5870448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0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Kein ABAP-Umbau  ·  ✓ Keine Migration  ·  ✓ Kein neues System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11612880" y="6583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9</a:t>
            </a:r>
            <a:endParaRPr lang="en-US" sz="900" dirty="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31082794-EF7B-2B23-FB72-F773004FA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26098" y="-937234"/>
            <a:ext cx="4731940" cy="31546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DF4F9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728"/>
            <a:ext cx="2560320" cy="124347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004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HAEUFIGE FRAGE: SAP BTP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nicht auf SAP BTP?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457200" y="1755648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ist die Zukunft - der Pilot funktioniert on-premise. Beides schliesst sich nicht aus.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2331720"/>
            <a:ext cx="5394960" cy="4069080"/>
          </a:xfrm>
          <a:prstGeom prst="rect">
            <a:avLst/>
          </a:prstGeom>
          <a:solidFill>
            <a:srgbClr val="F0FAFA"/>
          </a:solidFill>
          <a:ln w="12700">
            <a:solidFill>
              <a:srgbClr val="00A89D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5394960" cy="4572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7"/>
          <p:cNvSpPr/>
          <p:nvPr/>
        </p:nvSpPr>
        <p:spPr>
          <a:xfrm>
            <a:off x="640080" y="2450592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 -  On-Premise Pilot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290779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Schnell. Sicher. Sofort Ergebnisse.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58368" y="3364992"/>
            <a:ext cx="118872" cy="118872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0"/>
          <p:cNvSpPr/>
          <p:nvPr/>
        </p:nvSpPr>
        <p:spPr>
          <a:xfrm>
            <a:off x="886968" y="3319272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Sofort einsatzbereit - Setup in 2 Stunden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58368" y="3931920"/>
            <a:ext cx="118872" cy="118872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Text 12"/>
          <p:cNvSpPr/>
          <p:nvPr/>
        </p:nvSpPr>
        <p:spPr>
          <a:xfrm>
            <a:off x="886968" y="3886200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BTP-Lizenz beim Kunden noetig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58368" y="4498848"/>
            <a:ext cx="118872" cy="118872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4"/>
          <p:cNvSpPr/>
          <p:nvPr/>
        </p:nvSpPr>
        <p:spPr>
          <a:xfrm>
            <a:off x="886968" y="4453128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laeuft lokal - Daten verlassen das Unternehmen nicht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58368" y="5065776"/>
            <a:ext cx="118872" cy="118872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6"/>
          <p:cNvSpPr/>
          <p:nvPr/>
        </p:nvSpPr>
        <p:spPr>
          <a:xfrm>
            <a:off x="886968" y="5020056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 messbar in Woche 1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58368" y="5632704"/>
            <a:ext cx="118872" cy="118872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8"/>
          <p:cNvSpPr/>
          <p:nvPr/>
        </p:nvSpPr>
        <p:spPr>
          <a:xfrm>
            <a:off x="886968" y="5586984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OData-Anbindung bereits BTP-kompatibel gebaut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309360" y="2331720"/>
            <a:ext cx="5394960" cy="4069080"/>
          </a:xfrm>
          <a:prstGeom prst="rect">
            <a:avLst/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3" name="Shape 20"/>
          <p:cNvSpPr/>
          <p:nvPr/>
        </p:nvSpPr>
        <p:spPr>
          <a:xfrm>
            <a:off x="6309360" y="2331720"/>
            <a:ext cx="5394960" cy="45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Text 21"/>
          <p:cNvSpPr/>
          <p:nvPr/>
        </p:nvSpPr>
        <p:spPr>
          <a:xfrm>
            <a:off x="6492240" y="2450592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-  BTP Ready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492240" y="290779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Derselbe Code. Anderes Deployment.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510528" y="3364992"/>
            <a:ext cx="118872" cy="1188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4"/>
          <p:cNvSpPr/>
          <p:nvPr/>
        </p:nvSpPr>
        <p:spPr>
          <a:xfrm>
            <a:off x="6739128" y="3319272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 auf BTP Cloud Foundry deployen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510528" y="3931920"/>
            <a:ext cx="118872" cy="1188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6"/>
          <p:cNvSpPr/>
          <p:nvPr/>
        </p:nvSpPr>
        <p:spPr>
          <a:xfrm>
            <a:off x="6739128" y="3886200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SEGW Service bleibt unveraendert - bereits kompatibel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510528" y="4498848"/>
            <a:ext cx="118872" cy="1188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8"/>
          <p:cNvSpPr/>
          <p:nvPr/>
        </p:nvSpPr>
        <p:spPr>
          <a:xfrm>
            <a:off x="6739128" y="4453128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via SAP AI Core oder Anthropic/OpenAI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510528" y="5065776"/>
            <a:ext cx="118872" cy="1188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30"/>
          <p:cNvSpPr/>
          <p:nvPr/>
        </p:nvSpPr>
        <p:spPr>
          <a:xfrm>
            <a:off x="6739128" y="5020056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Umbau der Business-Logik noetig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6510528" y="5632704"/>
            <a:ext cx="118872" cy="1188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Text 32"/>
          <p:cNvSpPr/>
          <p:nvPr/>
        </p:nvSpPr>
        <p:spPr>
          <a:xfrm>
            <a:off x="6739128" y="5586984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gibt uns Datenbasis fuer BTP-Migration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57200" y="6473952"/>
            <a:ext cx="11247120" cy="0"/>
          </a:xfrm>
          <a:prstGeom prst="line">
            <a:avLst/>
          </a:prstGeom>
          <a:noFill/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7" name="Text 34"/>
          <p:cNvSpPr/>
          <p:nvPr/>
        </p:nvSpPr>
        <p:spPr>
          <a:xfrm>
            <a:off x="457200" y="6327648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BTP ist der strategische Weg - aber der schnellste Weg zum ersten Ergebnis ist heute. Und das zaehlt.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11612880" y="6583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DF4F9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2"/>
          <p:cNvSpPr/>
          <p:nvPr/>
        </p:nvSpPr>
        <p:spPr>
          <a:xfrm>
            <a:off x="32004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– jetzt live.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457200" y="175564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Agent läuft lokal auf meinem Laptop und spricht direkt mit den Daten.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2240280"/>
            <a:ext cx="7589520" cy="4251960"/>
          </a:xfrm>
          <a:prstGeom prst="rect">
            <a:avLst/>
          </a:prstGeom>
          <a:solidFill>
            <a:srgbClr val="EDF4F9"/>
          </a:solidFill>
          <a:ln w="12700">
            <a:solidFill>
              <a:srgbClr val="B8D4E8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/>
          <p:nvPr/>
        </p:nvSpPr>
        <p:spPr>
          <a:xfrm>
            <a:off x="457200" y="2240280"/>
            <a:ext cx="7589520" cy="4251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Live Demo / Screenshot Dashboard ]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229600" y="2240280"/>
            <a:ext cx="3657600" cy="4251960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8"/>
          <p:cNvSpPr/>
          <p:nvPr/>
        </p:nvSpPr>
        <p:spPr>
          <a:xfrm>
            <a:off x="8229600" y="2240280"/>
            <a:ext cx="36576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9"/>
          <p:cNvSpPr/>
          <p:nvPr/>
        </p:nvSpPr>
        <p:spPr>
          <a:xfrm>
            <a:off x="8412480" y="2359152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wir zeigen: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412480" y="2907792"/>
            <a:ext cx="128016" cy="1280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1"/>
          <p:cNvSpPr/>
          <p:nvPr/>
        </p:nvSpPr>
        <p:spPr>
          <a:xfrm>
            <a:off x="8613648" y="2862072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mit 10 Aufträgen optimieren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412480" y="3566160"/>
            <a:ext cx="128016" cy="1280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3"/>
          <p:cNvSpPr/>
          <p:nvPr/>
        </p:nvSpPr>
        <p:spPr>
          <a:xfrm>
            <a:off x="8613648" y="352044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Mitarbeiter-Verfügbarkeit abfragen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412480" y="4224528"/>
            <a:ext cx="128016" cy="1280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5"/>
          <p:cNvSpPr/>
          <p:nvPr/>
        </p:nvSpPr>
        <p:spPr>
          <a:xfrm>
            <a:off x="8613648" y="4178808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für Auftrag berechnen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8412480" y="4882896"/>
            <a:ext cx="128016" cy="1280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7"/>
          <p:cNvSpPr/>
          <p:nvPr/>
        </p:nvSpPr>
        <p:spPr>
          <a:xfrm>
            <a:off x="8613648" y="4837176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Chat: natürliche Sprache → Daten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412480" y="5541264"/>
            <a:ext cx="128016" cy="1280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Text 19"/>
          <p:cNvSpPr/>
          <p:nvPr/>
        </p:nvSpPr>
        <p:spPr>
          <a:xfrm>
            <a:off x="8613648" y="5495544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Live-Dashboard mit Auto-Refresh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11612880" y="6583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9</a:t>
            </a:r>
            <a:endParaRPr lang="en-US" sz="900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5583B239-D009-115E-F20A-07A7CD705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26098" y="-937234"/>
            <a:ext cx="4731940" cy="31546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DF4F9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2"/>
          <p:cNvSpPr/>
          <p:nvPr/>
        </p:nvSpPr>
        <p:spPr>
          <a:xfrm>
            <a:off x="32004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&amp; BUSINESS CASE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rechnet sich WestLogiX in 4,8 Tagen?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828800"/>
            <a:ext cx="2560320" cy="530352"/>
          </a:xfrm>
          <a:prstGeom prst="rect">
            <a:avLst/>
          </a:prstGeom>
          <a:solidFill>
            <a:srgbClr val="1B3A6B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5"/>
          <p:cNvSpPr/>
          <p:nvPr/>
        </p:nvSpPr>
        <p:spPr>
          <a:xfrm>
            <a:off x="457200" y="1892808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Kennzahl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971800" y="1828800"/>
            <a:ext cx="2560320" cy="530352"/>
          </a:xfrm>
          <a:prstGeom prst="rect">
            <a:avLst/>
          </a:prstGeom>
          <a:solidFill>
            <a:srgbClr val="1B3A6B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7"/>
          <p:cNvSpPr/>
          <p:nvPr/>
        </p:nvSpPr>
        <p:spPr>
          <a:xfrm>
            <a:off x="3063240" y="1892808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Vorher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577840" y="1828800"/>
            <a:ext cx="2560320" cy="530352"/>
          </a:xfrm>
          <a:prstGeom prst="rect">
            <a:avLst/>
          </a:prstGeom>
          <a:solidFill>
            <a:srgbClr val="1B3A6B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9"/>
          <p:cNvSpPr/>
          <p:nvPr/>
        </p:nvSpPr>
        <p:spPr>
          <a:xfrm>
            <a:off x="5669280" y="1892808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WestLogiX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183880" y="1828800"/>
            <a:ext cx="2560320" cy="530352"/>
          </a:xfrm>
          <a:prstGeom prst="rect">
            <a:avLst/>
          </a:prstGeom>
          <a:solidFill>
            <a:srgbClr val="1B3A6B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1"/>
          <p:cNvSpPr/>
          <p:nvPr/>
        </p:nvSpPr>
        <p:spPr>
          <a:xfrm>
            <a:off x="8275320" y="1892808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Erklärung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65760" y="2395728"/>
            <a:ext cx="2560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3"/>
          <p:cNvSpPr/>
          <p:nvPr/>
        </p:nvSpPr>
        <p:spPr>
          <a:xfrm>
            <a:off x="457200" y="2459736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Wegezeit / Schicht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971800" y="2395728"/>
            <a:ext cx="2560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5"/>
          <p:cNvSpPr/>
          <p:nvPr/>
        </p:nvSpPr>
        <p:spPr>
          <a:xfrm>
            <a:off x="3063240" y="2459736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577840" y="2395728"/>
            <a:ext cx="2560320" cy="530352"/>
          </a:xfrm>
          <a:prstGeom prst="rect">
            <a:avLst/>
          </a:prstGeom>
          <a:solidFill>
            <a:srgbClr val="E8FAF5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7"/>
          <p:cNvSpPr/>
          <p:nvPr/>
        </p:nvSpPr>
        <p:spPr>
          <a:xfrm>
            <a:off x="5669280" y="2459736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13 %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183880" y="2395728"/>
            <a:ext cx="2560320" cy="53035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Text 19"/>
          <p:cNvSpPr/>
          <p:nvPr/>
        </p:nvSpPr>
        <p:spPr>
          <a:xfrm>
            <a:off x="8275320" y="2459736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TSP-Algorithmus bündelt Picks nach Nähe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65760" y="2962656"/>
            <a:ext cx="2560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Text 21"/>
          <p:cNvSpPr/>
          <p:nvPr/>
        </p:nvSpPr>
        <p:spPr>
          <a:xfrm>
            <a:off x="457200" y="3026664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Genauigkeit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2971800" y="2962656"/>
            <a:ext cx="2560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3"/>
          <p:cNvSpPr/>
          <p:nvPr/>
        </p:nvSpPr>
        <p:spPr>
          <a:xfrm>
            <a:off x="3063240" y="3026664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±45 Min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577840" y="2962656"/>
            <a:ext cx="2560320" cy="530352"/>
          </a:xfrm>
          <a:prstGeom prst="rect">
            <a:avLst/>
          </a:prstGeom>
          <a:solidFill>
            <a:srgbClr val="E8FAF5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Text 25"/>
          <p:cNvSpPr/>
          <p:nvPr/>
        </p:nvSpPr>
        <p:spPr>
          <a:xfrm>
            <a:off x="5669280" y="3026664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±4 Min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183880" y="2962656"/>
            <a:ext cx="2560320" cy="53035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27"/>
          <p:cNvSpPr/>
          <p:nvPr/>
        </p:nvSpPr>
        <p:spPr>
          <a:xfrm>
            <a:off x="8275320" y="3026664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Echtzeit-Berechnung auf Basis Performance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65760" y="3529584"/>
            <a:ext cx="2560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Text 29"/>
          <p:cNvSpPr/>
          <p:nvPr/>
        </p:nvSpPr>
        <p:spPr>
          <a:xfrm>
            <a:off x="457200" y="3593592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/ Stunde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2971800" y="3529584"/>
            <a:ext cx="2560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Text 31"/>
          <p:cNvSpPr/>
          <p:nvPr/>
        </p:nvSpPr>
        <p:spPr>
          <a:xfrm>
            <a:off x="3063240" y="3593592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Ø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5577840" y="3529584"/>
            <a:ext cx="2560320" cy="530352"/>
          </a:xfrm>
          <a:prstGeom prst="rect">
            <a:avLst/>
          </a:prstGeom>
          <a:solidFill>
            <a:srgbClr val="E8FAF5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6" name="Text 33"/>
          <p:cNvSpPr/>
          <p:nvPr/>
        </p:nvSpPr>
        <p:spPr>
          <a:xfrm>
            <a:off x="5669280" y="3593592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Ø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8183880" y="3529584"/>
            <a:ext cx="2560320" cy="53035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Text 35"/>
          <p:cNvSpPr/>
          <p:nvPr/>
        </p:nvSpPr>
        <p:spPr>
          <a:xfrm>
            <a:off x="8275320" y="3593592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+21% durch weniger Leerlauf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365760" y="4096512"/>
            <a:ext cx="2560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" name="Text 37"/>
          <p:cNvSpPr/>
          <p:nvPr/>
        </p:nvSpPr>
        <p:spPr>
          <a:xfrm>
            <a:off x="457200" y="416052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Planungsaufwand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2971800" y="4096512"/>
            <a:ext cx="2560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2" name="Text 39"/>
          <p:cNvSpPr/>
          <p:nvPr/>
        </p:nvSpPr>
        <p:spPr>
          <a:xfrm>
            <a:off x="3063240" y="416052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2h / Tag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5577840" y="4096512"/>
            <a:ext cx="2560320" cy="530352"/>
          </a:xfrm>
          <a:prstGeom prst="rect">
            <a:avLst/>
          </a:prstGeom>
          <a:solidFill>
            <a:srgbClr val="E8FAF5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4" name="Text 41"/>
          <p:cNvSpPr/>
          <p:nvPr/>
        </p:nvSpPr>
        <p:spPr>
          <a:xfrm>
            <a:off x="5669280" y="416052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8183880" y="4096512"/>
            <a:ext cx="2560320" cy="53035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Text 43"/>
          <p:cNvSpPr/>
          <p:nvPr/>
        </p:nvSpPr>
        <p:spPr>
          <a:xfrm>
            <a:off x="8275320" y="416052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übernimmt Disposition automatisch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365760" y="4754880"/>
            <a:ext cx="6858000" cy="1691640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8" name="Text 45"/>
          <p:cNvSpPr/>
          <p:nvPr/>
        </p:nvSpPr>
        <p:spPr>
          <a:xfrm>
            <a:off x="548640" y="484632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Wie rechnet sich das?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548640" y="5230368"/>
            <a:ext cx="6492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30 Picker · 8h Schicht · Ø 25 €/h Lohnkosten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Wegezeit-Einsparung: 22% = 1,76h/Tag/Picker = 52,8h/Tag gesamt = ~1.320 €/Tag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WestLogiX Starter: 800 €/Monat → Amortisation in 4,8 Arbeitstagen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498080" y="1828800"/>
            <a:ext cx="4389120" cy="2743200"/>
          </a:xfrm>
          <a:prstGeom prst="rect">
            <a:avLst/>
          </a:prstGeom>
          <a:solidFill>
            <a:srgbClr val="E8FAF5"/>
          </a:solidFill>
          <a:ln w="12700">
            <a:solidFill>
              <a:srgbClr val="00A89D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1" name="Text 48"/>
          <p:cNvSpPr/>
          <p:nvPr/>
        </p:nvSpPr>
        <p:spPr>
          <a:xfrm>
            <a:off x="7589520" y="196596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€4.200</a:t>
            </a:r>
            <a:endParaRPr lang="en-US" sz="5200" dirty="0"/>
          </a:p>
        </p:txBody>
      </p:sp>
      <p:sp>
        <p:nvSpPr>
          <p:cNvPr id="52" name="Text 49"/>
          <p:cNvSpPr/>
          <p:nvPr/>
        </p:nvSpPr>
        <p:spPr>
          <a:xfrm>
            <a:off x="7589520" y="292608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Ersparnis / Monat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7680960" y="3291840"/>
            <a:ext cx="4114800" cy="0"/>
          </a:xfrm>
          <a:prstGeom prst="line">
            <a:avLst/>
          </a:prstGeom>
          <a:noFill/>
          <a:ln w="1270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4" name="Text 51"/>
          <p:cNvSpPr/>
          <p:nvPr/>
        </p:nvSpPr>
        <p:spPr>
          <a:xfrm>
            <a:off x="7589520" y="3364992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800 €/Mon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Einsparung 4.200 €/Mon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 +3.400 €/Mon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7498080" y="4754880"/>
            <a:ext cx="4389120" cy="1691640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6" name="Text 53"/>
          <p:cNvSpPr/>
          <p:nvPr/>
        </p:nvSpPr>
        <p:spPr>
          <a:xfrm>
            <a:off x="7589520" y="489204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4,8 Tage bis ROI</a:t>
            </a:r>
            <a:endParaRPr lang="en-US" sz="2600" dirty="0"/>
          </a:p>
        </p:txBody>
      </p:sp>
      <p:sp>
        <p:nvSpPr>
          <p:cNvPr id="57" name="Text 54"/>
          <p:cNvSpPr/>
          <p:nvPr/>
        </p:nvSpPr>
        <p:spPr>
          <a:xfrm>
            <a:off x="7589520" y="5486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30 Pickern · 8h Schicht · 25 €/h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589520" y="583387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Skaliert mit Lagergröße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11612880" y="6583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9</a:t>
            </a:r>
            <a:endParaRPr lang="en-US" sz="900" dirty="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CE46EB88-F72D-08EC-BB93-F20BFFDE58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26098" y="-937234"/>
            <a:ext cx="4731940" cy="31546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DF4F9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2"/>
          <p:cNvSpPr/>
          <p:nvPr/>
        </p:nvSpPr>
        <p:spPr>
          <a:xfrm>
            <a:off x="32004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als nächstes kommt.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457200" y="1920240"/>
            <a:ext cx="3566160" cy="4480560"/>
          </a:xfrm>
          <a:prstGeom prst="rect">
            <a:avLst/>
          </a:prstGeom>
          <a:solidFill>
            <a:srgbClr val="E8FAF5"/>
          </a:solidFill>
          <a:ln w="12700">
            <a:solidFill>
              <a:srgbClr val="00A89D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5"/>
          <p:cNvSpPr/>
          <p:nvPr/>
        </p:nvSpPr>
        <p:spPr>
          <a:xfrm>
            <a:off x="457200" y="1920240"/>
            <a:ext cx="3566160" cy="50292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/>
          <p:nvPr/>
        </p:nvSpPr>
        <p:spPr>
          <a:xfrm>
            <a:off x="640080" y="196596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58368" y="2633472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8"/>
          <p:cNvSpPr/>
          <p:nvPr/>
        </p:nvSpPr>
        <p:spPr>
          <a:xfrm>
            <a:off x="859536" y="2587752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Route Engine (TSP)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58368" y="3291840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0"/>
          <p:cNvSpPr/>
          <p:nvPr/>
        </p:nvSpPr>
        <p:spPr>
          <a:xfrm>
            <a:off x="859536" y="324612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Picker Intelligence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58368" y="3950208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Text 12"/>
          <p:cNvSpPr/>
          <p:nvPr/>
        </p:nvSpPr>
        <p:spPr>
          <a:xfrm>
            <a:off x="859536" y="390448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Engine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58368" y="4608576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4"/>
          <p:cNvSpPr/>
          <p:nvPr/>
        </p:nvSpPr>
        <p:spPr>
          <a:xfrm>
            <a:off x="859536" y="456285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+ Chat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58368" y="5266944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6"/>
          <p:cNvSpPr/>
          <p:nvPr/>
        </p:nvSpPr>
        <p:spPr>
          <a:xfrm>
            <a:off x="859536" y="5221224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EWM OData Connect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206240" y="1920240"/>
            <a:ext cx="3566160" cy="4480560"/>
          </a:xfrm>
          <a:prstGeom prst="rect">
            <a:avLst/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1" name="Shape 18"/>
          <p:cNvSpPr/>
          <p:nvPr/>
        </p:nvSpPr>
        <p:spPr>
          <a:xfrm>
            <a:off x="4206240" y="1920240"/>
            <a:ext cx="3566160" cy="5029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Text 19"/>
          <p:cNvSpPr/>
          <p:nvPr/>
        </p:nvSpPr>
        <p:spPr>
          <a:xfrm>
            <a:off x="4389120" y="196596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4407408" y="2633472"/>
            <a:ext cx="109728" cy="10972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Text 21"/>
          <p:cNvSpPr/>
          <p:nvPr/>
        </p:nvSpPr>
        <p:spPr>
          <a:xfrm>
            <a:off x="4608576" y="2587752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 Forecast (24h Prognose)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407408" y="3291840"/>
            <a:ext cx="109728" cy="10972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3"/>
          <p:cNvSpPr/>
          <p:nvPr/>
        </p:nvSpPr>
        <p:spPr>
          <a:xfrm>
            <a:off x="4608576" y="324612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Historische Datenanalyse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407408" y="3950208"/>
            <a:ext cx="109728" cy="10972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Text 25"/>
          <p:cNvSpPr/>
          <p:nvPr/>
        </p:nvSpPr>
        <p:spPr>
          <a:xfrm>
            <a:off x="4608576" y="390448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Mitarbeiter-Performance Tracking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407408" y="4608576"/>
            <a:ext cx="109728" cy="10972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27"/>
          <p:cNvSpPr/>
          <p:nvPr/>
        </p:nvSpPr>
        <p:spPr>
          <a:xfrm>
            <a:off x="4608576" y="456285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 Schichtplanung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7955280" y="1920240"/>
            <a:ext cx="3566160" cy="4480560"/>
          </a:xfrm>
          <a:prstGeom prst="rect">
            <a:avLst/>
          </a:prstGeom>
          <a:solidFill>
            <a:srgbClr val="FEF9EE"/>
          </a:solidFill>
          <a:ln w="12700">
            <a:solidFill>
              <a:srgbClr val="F5A623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2" name="Shape 29"/>
          <p:cNvSpPr/>
          <p:nvPr/>
        </p:nvSpPr>
        <p:spPr>
          <a:xfrm>
            <a:off x="7955280" y="1920240"/>
            <a:ext cx="3566160" cy="502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30"/>
          <p:cNvSpPr/>
          <p:nvPr/>
        </p:nvSpPr>
        <p:spPr>
          <a:xfrm>
            <a:off x="8138160" y="196596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8156448" y="2633472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Text 32"/>
          <p:cNvSpPr/>
          <p:nvPr/>
        </p:nvSpPr>
        <p:spPr>
          <a:xfrm>
            <a:off x="8357616" y="2587752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 Rückschreiben (WO-Erstellung)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8156448" y="3291840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7" name="Text 34"/>
          <p:cNvSpPr/>
          <p:nvPr/>
        </p:nvSpPr>
        <p:spPr>
          <a:xfrm>
            <a:off x="8357616" y="324612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Multi-Lager Support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8156448" y="3950208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Text 36"/>
          <p:cNvSpPr/>
          <p:nvPr/>
        </p:nvSpPr>
        <p:spPr>
          <a:xfrm>
            <a:off x="8357616" y="390448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 für Picker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8156448" y="4608576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1" name="Text 38"/>
          <p:cNvSpPr/>
          <p:nvPr/>
        </p:nvSpPr>
        <p:spPr>
          <a:xfrm>
            <a:off x="8357616" y="456285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BTP Integration</a:t>
            </a:r>
            <a:endParaRPr lang="en-US" sz="1150" dirty="0"/>
          </a:p>
        </p:txBody>
      </p:sp>
      <p:sp>
        <p:nvSpPr>
          <p:cNvPr id="42" name="Text 39"/>
          <p:cNvSpPr/>
          <p:nvPr/>
        </p:nvSpPr>
        <p:spPr>
          <a:xfrm>
            <a:off x="11612880" y="6583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9</a:t>
            </a:r>
            <a:endParaRPr lang="en-US" sz="900" dirty="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763E99D6-5AD9-5D4D-A392-803D6DC52C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26098" y="-937234"/>
            <a:ext cx="4731940" cy="31546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DF4F9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2"/>
          <p:cNvSpPr/>
          <p:nvPr/>
        </p:nvSpPr>
        <p:spPr>
          <a:xfrm>
            <a:off x="32004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MÖGLICHE ZUSAMMENARBEIT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können wir gemeinsam Mehrwert schaffen?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457200" y="175564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bin offen für verschiedene Formen der Zusammenarbeit – je nachdem was für euch und eure Kunden am meisten Sinn macht.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2377440"/>
            <a:ext cx="3566160" cy="4069080"/>
          </a:xfrm>
          <a:prstGeom prst="rect">
            <a:avLst/>
          </a:prstGeom>
          <a:solidFill>
            <a:srgbClr val="F0FAFA"/>
          </a:solidFill>
          <a:ln w="12700">
            <a:solidFill>
              <a:srgbClr val="00A89D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6"/>
          <p:cNvSpPr/>
          <p:nvPr/>
        </p:nvSpPr>
        <p:spPr>
          <a:xfrm>
            <a:off x="457200" y="2377440"/>
            <a:ext cx="3566160" cy="4572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7"/>
          <p:cNvSpPr/>
          <p:nvPr/>
        </p:nvSpPr>
        <p:spPr>
          <a:xfrm>
            <a:off x="640080" y="2487168"/>
            <a:ext cx="3200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 Gemeinsame Kundenprojekte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2926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Naheliegendste Option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0080" y="3291840"/>
            <a:ext cx="3200400" cy="0"/>
          </a:xfrm>
          <a:prstGeom prst="line">
            <a:avLst/>
          </a:prstGeom>
          <a:noFill/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0"/>
          <p:cNvSpPr/>
          <p:nvPr/>
        </p:nvSpPr>
        <p:spPr>
          <a:xfrm>
            <a:off x="658368" y="3456432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1"/>
          <p:cNvSpPr/>
          <p:nvPr/>
        </p:nvSpPr>
        <p:spPr>
          <a:xfrm>
            <a:off x="859536" y="3410712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 bringt EWM-Projekterfahrung ein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58368" y="4078224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3"/>
          <p:cNvSpPr/>
          <p:nvPr/>
        </p:nvSpPr>
        <p:spPr>
          <a:xfrm>
            <a:off x="859536" y="4032504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WestLogiX liefert den KI-Layer dazu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8368" y="4700016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5"/>
          <p:cNvSpPr/>
          <p:nvPr/>
        </p:nvSpPr>
        <p:spPr>
          <a:xfrm>
            <a:off x="859536" y="465429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 stärker als alleine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58368" y="5321808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7"/>
          <p:cNvSpPr/>
          <p:nvPr/>
        </p:nvSpPr>
        <p:spPr>
          <a:xfrm>
            <a:off x="859536" y="527608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Aufteilung nach Aufwand / Expertise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206240" y="2377440"/>
            <a:ext cx="3566160" cy="4069080"/>
          </a:xfrm>
          <a:prstGeom prst="rect">
            <a:avLst/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Shape 19"/>
          <p:cNvSpPr/>
          <p:nvPr/>
        </p:nvSpPr>
        <p:spPr>
          <a:xfrm>
            <a:off x="4206240" y="2377440"/>
            <a:ext cx="3566160" cy="45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0"/>
          <p:cNvSpPr/>
          <p:nvPr/>
        </p:nvSpPr>
        <p:spPr>
          <a:xfrm>
            <a:off x="4389120" y="2487168"/>
            <a:ext cx="3200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 Produktintegration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4389120" y="2926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es strategisch passt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389120" y="3291840"/>
            <a:ext cx="3200400" cy="0"/>
          </a:xfrm>
          <a:prstGeom prst="line">
            <a:avLst/>
          </a:prstGeom>
          <a:noFill/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Shape 23"/>
          <p:cNvSpPr/>
          <p:nvPr/>
        </p:nvSpPr>
        <p:spPr>
          <a:xfrm>
            <a:off x="4407408" y="3456432"/>
            <a:ext cx="109728" cy="10972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4"/>
          <p:cNvSpPr/>
          <p:nvPr/>
        </p:nvSpPr>
        <p:spPr>
          <a:xfrm>
            <a:off x="4608576" y="3410712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WestLogiX als Add-on in euer Portfolio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4407408" y="4078224"/>
            <a:ext cx="109728" cy="10972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6"/>
          <p:cNvSpPr/>
          <p:nvPr/>
        </p:nvSpPr>
        <p:spPr>
          <a:xfrm>
            <a:off x="4608576" y="4032504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Anpassung an euer Branding möglich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4407408" y="4700016"/>
            <a:ext cx="109728" cy="10972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8"/>
          <p:cNvSpPr/>
          <p:nvPr/>
        </p:nvSpPr>
        <p:spPr>
          <a:xfrm>
            <a:off x="4608576" y="465429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 kennt eure Kunden – ich die Technik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407408" y="5321808"/>
            <a:ext cx="109728" cy="10972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30"/>
          <p:cNvSpPr/>
          <p:nvPr/>
        </p:nvSpPr>
        <p:spPr>
          <a:xfrm>
            <a:off x="4608576" y="527608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Gemeinsame Weiterentwicklung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7955280" y="2377440"/>
            <a:ext cx="3566160" cy="4069080"/>
          </a:xfrm>
          <a:prstGeom prst="rect">
            <a:avLst/>
          </a:prstGeom>
          <a:solidFill>
            <a:srgbClr val="FEF9EE"/>
          </a:solidFill>
          <a:ln w="12700">
            <a:solidFill>
              <a:srgbClr val="F5A623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5" name="Shape 32"/>
          <p:cNvSpPr/>
          <p:nvPr/>
        </p:nvSpPr>
        <p:spPr>
          <a:xfrm>
            <a:off x="7955280" y="2377440"/>
            <a:ext cx="356616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6" name="Text 33"/>
          <p:cNvSpPr/>
          <p:nvPr/>
        </p:nvSpPr>
        <p:spPr>
          <a:xfrm>
            <a:off x="8138160" y="2487168"/>
            <a:ext cx="3200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Einfach erstmal reden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8138160" y="2926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unkomplizierteste Einstieg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8138160" y="3291840"/>
            <a:ext cx="3200400" cy="0"/>
          </a:xfrm>
          <a:prstGeom prst="line">
            <a:avLst/>
          </a:prstGeom>
          <a:noFill/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Shape 36"/>
          <p:cNvSpPr/>
          <p:nvPr/>
        </p:nvSpPr>
        <p:spPr>
          <a:xfrm>
            <a:off x="8156448" y="3456432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" name="Text 37"/>
          <p:cNvSpPr/>
          <p:nvPr/>
        </p:nvSpPr>
        <p:spPr>
          <a:xfrm>
            <a:off x="8357616" y="3410712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Gibt es Kunden wo das passt?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8156448" y="4078224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2" name="Text 39"/>
          <p:cNvSpPr/>
          <p:nvPr/>
        </p:nvSpPr>
        <p:spPr>
          <a:xfrm>
            <a:off x="8357616" y="4032504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laufen eure EWM-Projekte?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8156448" y="4700016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4" name="Text 41"/>
          <p:cNvSpPr/>
          <p:nvPr/>
        </p:nvSpPr>
        <p:spPr>
          <a:xfrm>
            <a:off x="8357616" y="465429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fehlt euren Kunden heute?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8156448" y="5321808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Text 43"/>
          <p:cNvSpPr/>
          <p:nvPr/>
        </p:nvSpPr>
        <p:spPr>
          <a:xfrm>
            <a:off x="8357616" y="527608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Commitment nötig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11612880" y="6583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9</a:t>
            </a:r>
            <a:endParaRPr lang="en-US" sz="900" dirty="0"/>
          </a:p>
        </p:txBody>
      </p:sp>
      <p:pic>
        <p:nvPicPr>
          <p:cNvPr id="48" name="Grafik 47">
            <a:extLst>
              <a:ext uri="{FF2B5EF4-FFF2-40B4-BE49-F238E27FC236}">
                <a16:creationId xmlns:a16="http://schemas.microsoft.com/office/drawing/2014/main" id="{768DB604-0CD4-CA1A-03FC-537D8EE85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26098" y="-937234"/>
            <a:ext cx="4731940" cy="31546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2"/>
          <p:cNvSpPr/>
          <p:nvPr/>
        </p:nvSpPr>
        <p:spPr>
          <a:xfrm>
            <a:off x="502920" y="1219317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 SCHRITTE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13716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Schlage ich für heute vor?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02920" y="2331720"/>
            <a:ext cx="112471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5"/>
          <p:cNvSpPr/>
          <p:nvPr/>
        </p:nvSpPr>
        <p:spPr>
          <a:xfrm>
            <a:off x="502920" y="2331720"/>
            <a:ext cx="54864" cy="118872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/>
          <p:nvPr/>
        </p:nvSpPr>
        <p:spPr>
          <a:xfrm>
            <a:off x="685800" y="2404872"/>
            <a:ext cx="594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389888" y="2423160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Kunden-Use-Case identifizieren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389888" y="283464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Gibt es aktuell ein EWM-Projekt oder einen Kunden der mit langen Wegezeiten oder schlechter ETA kämpft? Den schauen wir uns gemeinsam an.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3657600"/>
            <a:ext cx="112471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Shape 10"/>
          <p:cNvSpPr/>
          <p:nvPr/>
        </p:nvSpPr>
        <p:spPr>
          <a:xfrm>
            <a:off x="502920" y="3657600"/>
            <a:ext cx="54864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1"/>
          <p:cNvSpPr/>
          <p:nvPr/>
        </p:nvSpPr>
        <p:spPr>
          <a:xfrm>
            <a:off x="685800" y="3730752"/>
            <a:ext cx="594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389888" y="3749040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&amp; nächste Idee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389888" y="41605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schauen gemeinsam wo WestLogiX bei euren Kunden passt. Gibt es ein Projekt wo der Ansatz sofort Sinn macht? Das klären wir heute.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4983480"/>
            <a:ext cx="112471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Shape 15"/>
          <p:cNvSpPr/>
          <p:nvPr/>
        </p:nvSpPr>
        <p:spPr>
          <a:xfrm>
            <a:off x="502920" y="4983480"/>
            <a:ext cx="54864" cy="1188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6"/>
          <p:cNvSpPr/>
          <p:nvPr/>
        </p:nvSpPr>
        <p:spPr>
          <a:xfrm>
            <a:off x="685800" y="5056632"/>
            <a:ext cx="594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89888" y="5074920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der Zusammenarbeit besprechen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389888" y="54864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Vertragsdruck heute. Erstmal schauen was für alle Seiten Sinn macht und was wirklich funktioniert.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02920" y="6309360"/>
            <a:ext cx="11247120" cy="0"/>
          </a:xfrm>
          <a:prstGeom prst="line">
            <a:avLst/>
          </a:prstGeom>
          <a:noFill/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0"/>
          <p:cNvSpPr/>
          <p:nvPr/>
        </p:nvSpPr>
        <p:spPr>
          <a:xfrm>
            <a:off x="502920" y="638251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West  ·  WestLogiX  ·  kevinwesti@yahoo.de  ·  linkedin.com/in/kevinwest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1612880" y="6583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9</a:t>
            </a:r>
            <a:endParaRPr lang="en-US" sz="900" dirty="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92F86B8E-EFB2-CA46-B5B9-8F53F7C8B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7137" y="-1014060"/>
            <a:ext cx="5183723" cy="3455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941</Words>
  <Application>Microsoft Office PowerPoint</Application>
  <PresentationFormat>Breitbild</PresentationFormat>
  <Paragraphs>193</Paragraphs>
  <Slides>10</Slides>
  <Notes>10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WestLogiX – Smart Pick Engine</dc:title>
  <dc:subject>PptxGenJS Presentation</dc:subject>
  <dc:creator>PptxGenJS</dc:creator>
  <cp:lastModifiedBy>West Kevin</cp:lastModifiedBy>
  <cp:revision>5</cp:revision>
  <dcterms:created xsi:type="dcterms:W3CDTF">2026-05-06T05:05:26Z</dcterms:created>
  <dcterms:modified xsi:type="dcterms:W3CDTF">2026-05-11T09:32:37Z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b4d030b-e3a8-447d-a0d8-f75bc1480528_Enabled">
    <vt:lpwstr>true</vt:lpwstr>
  </property>
  <property fmtid="{D5CDD505-2E9C-101B-9397-08002B2CF9AE}" pid="3" name="MSIP_Label_8b4d030b-e3a8-447d-a0d8-f75bc1480528_SetDate">
    <vt:lpwstr>2026-05-06T06:10:50Z</vt:lpwstr>
  </property>
  <property fmtid="{D5CDD505-2E9C-101B-9397-08002B2CF9AE}" pid="4" name="MSIP_Label_8b4d030b-e3a8-447d-a0d8-f75bc1480528_Method">
    <vt:lpwstr>Standard</vt:lpwstr>
  </property>
  <property fmtid="{D5CDD505-2E9C-101B-9397-08002B2CF9AE}" pid="5" name="MSIP_Label_8b4d030b-e3a8-447d-a0d8-f75bc1480528_Name">
    <vt:lpwstr>Confidential</vt:lpwstr>
  </property>
  <property fmtid="{D5CDD505-2E9C-101B-9397-08002B2CF9AE}" pid="6" name="MSIP_Label_8b4d030b-e3a8-447d-a0d8-f75bc1480528_SiteId">
    <vt:lpwstr>bab8ae91-c774-40ac-9d72-282d0f55f03a</vt:lpwstr>
  </property>
  <property fmtid="{D5CDD505-2E9C-101B-9397-08002B2CF9AE}" pid="7" name="MSIP_Label_8b4d030b-e3a8-447d-a0d8-f75bc1480528_ActionId">
    <vt:lpwstr>7a0db453-be0d-417f-8fe7-9fe8db55957d</vt:lpwstr>
  </property>
  <property fmtid="{D5CDD505-2E9C-101B-9397-08002B2CF9AE}" pid="8" name="MSIP_Label_8b4d030b-e3a8-447d-a0d8-f75bc1480528_ContentBits">
    <vt:lpwstr>2</vt:lpwstr>
  </property>
  <property fmtid="{D5CDD505-2E9C-101B-9397-08002B2CF9AE}" pid="9" name="MSIP_Label_8b4d030b-e3a8-447d-a0d8-f75bc1480528_Tag">
    <vt:lpwstr>10, 3, 0, 1</vt:lpwstr>
  </property>
  <property fmtid="{D5CDD505-2E9C-101B-9397-08002B2CF9AE}" pid="10" name="ClassificationContentMarkingFooterLocations">
    <vt:lpwstr>Office Theme:3</vt:lpwstr>
  </property>
  <property fmtid="{D5CDD505-2E9C-101B-9397-08002B2CF9AE}" pid="11" name="ClassificationContentMarkingFooterText">
    <vt:lpwstr>Confidential</vt:lpwstr>
  </property>
</Properties>
</file>