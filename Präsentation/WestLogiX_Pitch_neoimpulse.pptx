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52" d="100"/>
          <a:sy n="152" d="100"/>
        </p:scale>
        <p:origin x="66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1226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35% Schichtzeit = Laufzeit</a:t>
            </a:r>
          </a:p>
          <a:p>
            <a:r>
              <a:rPr lang="de-DE" dirty="0"/>
              <a:t>Das ist ein anerkannter Branchen-Benchmark aus der Lagerlogistik-Forschung (u.a. Fraunhofer IML). </a:t>
            </a:r>
          </a:p>
          <a:p>
            <a:r>
              <a:rPr lang="de-DE" dirty="0"/>
              <a:t>In manuellen Pick-Lagern gehen je nach Layout 30–50% der Arbeitszeit für reine Wege drauf. 35% ist der konservative Mittelwert. </a:t>
            </a:r>
          </a:p>
          <a:p>
            <a:r>
              <a:rPr lang="de-DE" dirty="0"/>
              <a:t>Wenn jemand fragt: „Das ist ein Richtwert aus Logistikstudien — bei euren Kunden kann es mehr oder weniger sein, das messen wir im Pilot."</a:t>
            </a:r>
          </a:p>
          <a:p>
            <a:endParaRPr lang="de-DE" dirty="0"/>
          </a:p>
          <a:p>
            <a:r>
              <a:rPr lang="de-DE" dirty="0"/>
              <a:t>18 Min Ø Wartezeit / Auftrag</a:t>
            </a:r>
          </a:p>
          <a:p>
            <a:r>
              <a:rPr lang="de-DE" dirty="0"/>
              <a:t>Das ist eine realistische Schätzung: </a:t>
            </a:r>
          </a:p>
          <a:p>
            <a:r>
              <a:rPr lang="de-DE" dirty="0"/>
              <a:t>EWM weist Aufträge zu ohne zu wissen ob der Picker gerade pausiert, in einer anderen Zone ist </a:t>
            </a:r>
          </a:p>
          <a:p>
            <a:r>
              <a:rPr lang="de-DE" dirty="0"/>
              <a:t>oder blockiert ist. Der Auftrag wartet oder landet beim falschen Picker → Neuzuweisung. 18 Min ist ein plausibler Durchschnitt </a:t>
            </a:r>
          </a:p>
          <a:p>
            <a:r>
              <a:rPr lang="de-DE" dirty="0"/>
              <a:t>für mittelgroße Lager. Wenn jemand fragt: „Das ist eine konservative Schätzung — in größeren Lagern oder mit vielen Handübergaben ist es oft mehr."</a:t>
            </a:r>
          </a:p>
          <a:p>
            <a:endParaRPr lang="de-DE" dirty="0"/>
          </a:p>
          <a:p>
            <a:r>
              <a:rPr lang="de-DE" dirty="0"/>
              <a:t>±45 Min ETA-Abweichung</a:t>
            </a:r>
          </a:p>
          <a:p>
            <a:r>
              <a:rPr lang="de-DE" dirty="0"/>
              <a:t>Das ist die Realität ohne Echtzeit-Tracking: Versand schätzt wann ein Auftrag fertig ist, baut 45+ Min Puffer ein weil niemand es </a:t>
            </a:r>
          </a:p>
          <a:p>
            <a:r>
              <a:rPr lang="de-DE" dirty="0"/>
              <a:t>wirklich weiß → LKW wartet oder zu früh da. Das kennt jeder SAP-EWM-Consultant aus der Praxis. Wenn jemand fragt: „Das ist meine direkte </a:t>
            </a:r>
          </a:p>
          <a:p>
            <a:r>
              <a:rPr lang="de-DE" dirty="0"/>
              <a:t>Erfahrung aus Projekten — die genaue Zahl messen wir im Pilot."</a:t>
            </a:r>
          </a:p>
          <a:p>
            <a:endParaRPr lang="de-DE" dirty="0"/>
          </a:p>
          <a:p>
            <a:r>
              <a:rPr lang="de-DE" dirty="0"/>
              <a:t>Der Kern für morgen: Diese Zahlen sind Branchen-Richtwerte und Praxiserfahrung — kein wissenschaftliches Paper dahinter. Das ist auch okay so. </a:t>
            </a:r>
          </a:p>
          <a:p>
            <a:r>
              <a:rPr lang="de-DE" dirty="0"/>
              <a:t>Wenn jemand bohrt: ehrlich sagen dass der Pilot die echten Zahlen liefert. </a:t>
            </a:r>
            <a:r>
              <a:rPr lang="de-DE"/>
              <a:t>Das macht es sogar stärker — „genau deshalb brauchen wir den Pilot."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35% Schichtzeit = Laufzeit</a:t>
            </a:r>
          </a:p>
          <a:p>
            <a:r>
              <a:rPr lang="de-DE" dirty="0"/>
              <a:t>Das ist ein anerkannter Branchen-Benchmark aus der Lagerlogistik-Forschung (u.a. Fraunhofer IML). </a:t>
            </a:r>
          </a:p>
          <a:p>
            <a:r>
              <a:rPr lang="de-DE" dirty="0"/>
              <a:t>In manuellen Pick-Lagern gehen je nach Layout 30–50% der Arbeitszeit für reine Wege drauf. 35% ist der konservative Mittelwert. </a:t>
            </a:r>
          </a:p>
          <a:p>
            <a:r>
              <a:rPr lang="de-DE" dirty="0"/>
              <a:t>Wenn jemand fragt: „Das ist ein Richtwert aus Logistikstudien — bei euren Kunden kann es mehr oder weniger sein, das messen wir im Pilot."</a:t>
            </a:r>
          </a:p>
          <a:p>
            <a:endParaRPr lang="de-DE" dirty="0"/>
          </a:p>
          <a:p>
            <a:r>
              <a:rPr lang="de-DE" dirty="0"/>
              <a:t>18 Min Ø Wartezeit / Auftrag</a:t>
            </a:r>
          </a:p>
          <a:p>
            <a:r>
              <a:rPr lang="de-DE" dirty="0"/>
              <a:t>Das ist eine realistische Schätzung: </a:t>
            </a:r>
          </a:p>
          <a:p>
            <a:r>
              <a:rPr lang="de-DE" dirty="0"/>
              <a:t>EWM weist Aufträge zu ohne zu wissen ob der Picker gerade pausiert, in einer anderen Zone ist </a:t>
            </a:r>
          </a:p>
          <a:p>
            <a:r>
              <a:rPr lang="de-DE" dirty="0"/>
              <a:t>oder blockiert ist. Der Auftrag wartet oder landet beim falschen Picker → Neuzuweisung. 18 Min ist ein plausibler Durchschnitt </a:t>
            </a:r>
          </a:p>
          <a:p>
            <a:r>
              <a:rPr lang="de-DE" dirty="0"/>
              <a:t>für mittelgroße Lager. Wenn jemand fragt: „Das ist eine konservative Schätzung — in größeren Lagern oder mit vielen Handübergaben ist es oft mehr."</a:t>
            </a:r>
          </a:p>
          <a:p>
            <a:endParaRPr lang="de-DE" dirty="0"/>
          </a:p>
          <a:p>
            <a:r>
              <a:rPr lang="de-DE" dirty="0"/>
              <a:t>±45 Min ETA-Abweichung</a:t>
            </a:r>
          </a:p>
          <a:p>
            <a:r>
              <a:rPr lang="de-DE" dirty="0"/>
              <a:t>Das ist die Realität ohne Echtzeit-Tracking: Versand schätzt wann ein Auftrag fertig ist, baut 45+ Min Puffer ein weil niemand es </a:t>
            </a:r>
          </a:p>
          <a:p>
            <a:r>
              <a:rPr lang="de-DE" dirty="0"/>
              <a:t>wirklich weiß → LKW wartet oder zu früh da. Das kennt jeder SAP-EWM-Consultant aus der Praxis. Wenn jemand fragt: „Das ist meine direkte </a:t>
            </a:r>
          </a:p>
          <a:p>
            <a:r>
              <a:rPr lang="de-DE" dirty="0"/>
              <a:t>Erfahrung aus Projekten — die genaue Zahl messen wir im Pilot."</a:t>
            </a:r>
          </a:p>
          <a:p>
            <a:endParaRPr lang="de-DE" dirty="0"/>
          </a:p>
          <a:p>
            <a:r>
              <a:rPr lang="de-DE" dirty="0"/>
              <a:t>Der Kern für morgen: Diese Zahlen sind Branchen-Richtwerte und Praxiserfahrung — kein wissenschaftliches Paper dahinter. Das ist auch okay so. </a:t>
            </a:r>
          </a:p>
          <a:p>
            <a:r>
              <a:rPr lang="de-DE" dirty="0"/>
              <a:t>Wenn jemand bohrt: ehrlich sagen dass der Pilot die echten Zahlen liefert. </a:t>
            </a:r>
            <a:r>
              <a:rPr lang="de-DE"/>
              <a:t>Das macht es sogar stärker — „genau deshalb brauchen wir den Pilot."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„Das LLM ist der intelligente Vermittler — es versteht was der Lagerleiter fragt, wählt das richtige Tool aus, und formuliert die Antwort in verständlicher Sprache. Die echten Berechnungen macht der Code darunter. </a:t>
            </a:r>
            <a:r>
              <a:rPr lang="de-DE"/>
              <a:t>Das LLM macht SAP-Daten für jeden zugänglich — ohne Transaktion, ohne Schulung."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DCBF1E3A-D4B9-95DF-8BA2-5F715B21E55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452225" y="6642100"/>
            <a:ext cx="701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000" dirty="0" err="1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</a:t>
            </a:r>
            <a:endParaRPr lang="de-DE" sz="1000" dirty="0">
              <a:solidFill>
                <a:srgbClr val="000000">
                  <a:alpha val="50000"/>
                </a:srgbClr>
              </a:solidFill>
              <a:latin typeface="Aptos" panose="020B00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640080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Mai 2026  ·  neoimpulse GmbH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164592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7" name="Text 4"/>
          <p:cNvSpPr/>
          <p:nvPr/>
        </p:nvSpPr>
        <p:spPr>
          <a:xfrm>
            <a:off x="502920" y="182880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Lager.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02920" y="2606040"/>
            <a:ext cx="9144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Endlich intelligent.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502920" y="36118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KI-gestützte Optimierung für SAP EWM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Wegezeiten · Picker-Planung · Echtzeit-ETA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1" name="Shape 8"/>
          <p:cNvSpPr/>
          <p:nvPr/>
        </p:nvSpPr>
        <p:spPr>
          <a:xfrm>
            <a:off x="502920" y="4846320"/>
            <a:ext cx="269748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2" name="Text 9"/>
          <p:cNvSpPr/>
          <p:nvPr/>
        </p:nvSpPr>
        <p:spPr>
          <a:xfrm>
            <a:off x="59436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59436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42900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5" name="Shape 12"/>
          <p:cNvSpPr/>
          <p:nvPr/>
        </p:nvSpPr>
        <p:spPr>
          <a:xfrm>
            <a:off x="3429000" y="4846320"/>
            <a:ext cx="269748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6" name="Text 13"/>
          <p:cNvSpPr/>
          <p:nvPr/>
        </p:nvSpPr>
        <p:spPr>
          <a:xfrm>
            <a:off x="352044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352044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484632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9" name="Shape 16"/>
          <p:cNvSpPr/>
          <p:nvPr/>
        </p:nvSpPr>
        <p:spPr>
          <a:xfrm>
            <a:off x="6355080" y="4846320"/>
            <a:ext cx="269748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0" name="Text 17"/>
          <p:cNvSpPr/>
          <p:nvPr/>
        </p:nvSpPr>
        <p:spPr>
          <a:xfrm>
            <a:off x="6446520" y="498348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6446520" y="565099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Pick-Kapazität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418320" y="5029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Präsentiert von Kevin West</a:t>
            </a:r>
            <a:endParaRPr lang="en-US" sz="100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A792E6EC-8572-CEF8-A4DD-E1A01C81A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47575" y="-87774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PROBLEM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verwaltet.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 optimiert es wirklich?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9" name="Text 6"/>
          <p:cNvSpPr/>
          <p:nvPr/>
        </p:nvSpPr>
        <p:spPr>
          <a:xfrm>
            <a:off x="64008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🗺️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4008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 Wegezeiten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vergibt Aufgaben ohne Picker-Position oder optimale Reihenfolge zu kennen. 35% der Schichtzeit = reine Laufzeit.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3" name="Text 10"/>
          <p:cNvSpPr/>
          <p:nvPr/>
        </p:nvSpPr>
        <p:spPr>
          <a:xfrm>
            <a:off x="73152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73152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Schichtzeit = Laufzeit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20624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6" name="Shape 13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7" name="Text 14"/>
          <p:cNvSpPr/>
          <p:nvPr/>
        </p:nvSpPr>
        <p:spPr>
          <a:xfrm>
            <a:off x="438912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⏸️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438912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Unplanbare Pausen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38912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Pausen und Fokuszeiten sind für EWM unsichtbar. Aufträge landen bei Mitarbeitern die gerade nicht verfügbar sind.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38912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1" name="Text 18"/>
          <p:cNvSpPr/>
          <p:nvPr/>
        </p:nvSpPr>
        <p:spPr>
          <a:xfrm>
            <a:off x="448056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48056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Ø Wartezeit / Auftrag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7955280" y="2377440"/>
            <a:ext cx="3566160" cy="411480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5" name="Text 22"/>
          <p:cNvSpPr/>
          <p:nvPr/>
        </p:nvSpPr>
        <p:spPr>
          <a:xfrm>
            <a:off x="8138160" y="2487168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8138160" y="312724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echte ETA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138160" y="3584448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"Wann ist der Auftrag fertig?" – niemand kann es sicher beantworten. Versand plant mit ±45 Min Puffer. Lkw warten.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8138160" y="5029200"/>
            <a:ext cx="32004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9" name="Text 26"/>
          <p:cNvSpPr/>
          <p:nvPr/>
        </p:nvSpPr>
        <p:spPr>
          <a:xfrm>
            <a:off x="8229600" y="510235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2600" dirty="0"/>
          </a:p>
        </p:txBody>
      </p:sp>
      <p:sp>
        <p:nvSpPr>
          <p:cNvPr id="30" name="Text 27"/>
          <p:cNvSpPr/>
          <p:nvPr/>
        </p:nvSpPr>
        <p:spPr>
          <a:xfrm>
            <a:off x="8229600" y="56509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ETA-Abweichung heute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pic>
        <p:nvPicPr>
          <p:cNvPr id="32" name="Grafik 31">
            <a:extLst>
              <a:ext uri="{FF2B5EF4-FFF2-40B4-BE49-F238E27FC236}">
                <a16:creationId xmlns:a16="http://schemas.microsoft.com/office/drawing/2014/main" id="{52B11374-C5D3-CDC9-6344-C69F44760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– Smart Pick Engine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81051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KI-Agent der direkt mit SAP EWM spricht und in Echtzeit optimiert. Keine manuelle Koordination mehr.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206240"/>
          </a:xfrm>
          <a:prstGeom prst="rect">
            <a:avLst/>
          </a:prstGeom>
          <a:solidFill>
            <a:srgbClr val="F0FAFA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008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Nearest-Neighbor TSP berechnet die optimale Pick-Reihenfolge automatisch. Weniger Laufweg – mehr Picks pro Schicht.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4008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4" name="Text 11"/>
          <p:cNvSpPr/>
          <p:nvPr/>
        </p:nvSpPr>
        <p:spPr>
          <a:xfrm>
            <a:off x="73152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–62 %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73152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206240" y="2377440"/>
            <a:ext cx="3566160" cy="4206240"/>
          </a:xfrm>
          <a:prstGeom prst="rect">
            <a:avLst/>
          </a:prstGeom>
          <a:solidFill>
            <a:srgbClr val="EEF2F8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7" name="Shape 14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8" name="Text 15"/>
          <p:cNvSpPr/>
          <p:nvPr/>
        </p:nvSpPr>
        <p:spPr>
          <a:xfrm>
            <a:off x="438912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38912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38912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ist verfügbar? Wer hat Pause? Wer pickt am schnellsten in Zone B? WestLogiX weiß es – und verteilt proaktiv.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38912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2" name="Text 19"/>
          <p:cNvSpPr/>
          <p:nvPr/>
        </p:nvSpPr>
        <p:spPr>
          <a:xfrm>
            <a:off x="448056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+20 %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448056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Kapazität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955280" y="2377440"/>
            <a:ext cx="3566160" cy="4206240"/>
          </a:xfrm>
          <a:prstGeom prst="rect">
            <a:avLst/>
          </a:prstGeom>
          <a:solidFill>
            <a:srgbClr val="FEF9EE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5" name="Shape 2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6" name="Text 23"/>
          <p:cNvSpPr/>
          <p:nvPr/>
        </p:nvSpPr>
        <p:spPr>
          <a:xfrm>
            <a:off x="8138160" y="2487168"/>
            <a:ext cx="548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8138160" y="29718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8138160" y="3429000"/>
            <a:ext cx="32004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Echtzeit-ETA pro Auftrag basierend auf Picker-Performance und aktueller Kapazität. Versand plant. Kein Raten mehr.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38160" y="5029200"/>
            <a:ext cx="32004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0" name="Text 27"/>
          <p:cNvSpPr/>
          <p:nvPr/>
        </p:nvSpPr>
        <p:spPr>
          <a:xfrm>
            <a:off x="822960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8229600" y="56875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Genauigkeit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05642FD3-6A46-EFBB-6418-AB398F1F8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TECHNISCHE ARCHITEKTUR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Plug-in. Nicht Umbau.</a:t>
            </a:r>
            <a:endParaRPr lang="en-US" sz="3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783080"/>
            <a:ext cx="7315200" cy="4754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955280" y="1783080"/>
            <a:ext cx="3931920" cy="475488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5"/>
          <p:cNvSpPr/>
          <p:nvPr/>
        </p:nvSpPr>
        <p:spPr>
          <a:xfrm>
            <a:off x="7955280" y="1783080"/>
            <a:ext cx="393192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Text 6"/>
          <p:cNvSpPr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2 Stunden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138160" y="2514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595360" y="251460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SEGW Service anlegen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595360" y="29169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Eigener Z-OData-Service in SAP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359359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5" name="Text 11"/>
          <p:cNvSpPr/>
          <p:nvPr/>
        </p:nvSpPr>
        <p:spPr>
          <a:xfrm>
            <a:off x="813816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595360" y="37033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95360" y="410565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FastAPI · lokal oder Cloud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138160" y="4782312"/>
            <a:ext cx="356616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9" name="Text 15"/>
          <p:cNvSpPr/>
          <p:nvPr/>
        </p:nvSpPr>
        <p:spPr>
          <a:xfrm>
            <a:off x="813816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8595360" y="48920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öffnen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8595360" y="529437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 live – keine Client-Installation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5806440"/>
            <a:ext cx="3566160" cy="5943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3" name="Text 19"/>
          <p:cNvSpPr/>
          <p:nvPr/>
        </p:nvSpPr>
        <p:spPr>
          <a:xfrm>
            <a:off x="8229600" y="5870448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Kein ABAP-Umbau  ·  ✓ Keine Migration  ·  ✓ Kein neues System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31082794-EF7B-2B23-FB72-F773004FA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– jetzt live.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Agent läuft lokal auf meinem PC und spricht direkt mit den Daten.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solidFill>
            <a:srgbClr val="EDF4F9"/>
          </a:solidFill>
          <a:ln w="12700">
            <a:solidFill>
              <a:srgbClr val="B8D4E8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Text 6"/>
          <p:cNvSpPr/>
          <p:nvPr/>
        </p:nvSpPr>
        <p:spPr>
          <a:xfrm>
            <a:off x="457200" y="2240280"/>
            <a:ext cx="758952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Live Demo / Screenshot Dashboard ]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0" y="2240280"/>
            <a:ext cx="3657600" cy="425196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1" name="Shape 8"/>
          <p:cNvSpPr/>
          <p:nvPr/>
        </p:nvSpPr>
        <p:spPr>
          <a:xfrm>
            <a:off x="8229600" y="2240280"/>
            <a:ext cx="365760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2" name="Text 9"/>
          <p:cNvSpPr/>
          <p:nvPr/>
        </p:nvSpPr>
        <p:spPr>
          <a:xfrm>
            <a:off x="8412480" y="235915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</a:t>
            </a:r>
            <a:r>
              <a:rPr lang="en-US" sz="1300" b="1" dirty="0" err="1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zeigen</a:t>
            </a: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412480" y="2907792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4" name="Text 11"/>
          <p:cNvSpPr/>
          <p:nvPr/>
        </p:nvSpPr>
        <p:spPr>
          <a:xfrm>
            <a:off x="8613648" y="286207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mit 10 Aufträgen optimieren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412480" y="3566160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6" name="Text 13"/>
          <p:cNvSpPr/>
          <p:nvPr/>
        </p:nvSpPr>
        <p:spPr>
          <a:xfrm>
            <a:off x="8613648" y="35204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Mitarbeiter-Verfügbarkeit abfragen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412480" y="4224528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8" name="Text 15"/>
          <p:cNvSpPr/>
          <p:nvPr/>
        </p:nvSpPr>
        <p:spPr>
          <a:xfrm>
            <a:off x="8613648" y="417880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für Auftrag berechnen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412480" y="4882896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0" name="Text 17"/>
          <p:cNvSpPr/>
          <p:nvPr/>
        </p:nvSpPr>
        <p:spPr>
          <a:xfrm>
            <a:off x="8613648" y="48371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Chat: natürliche Sprache → Daten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412480" y="5541264"/>
            <a:ext cx="128016" cy="128016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2" name="Text 19"/>
          <p:cNvSpPr/>
          <p:nvPr/>
        </p:nvSpPr>
        <p:spPr>
          <a:xfrm>
            <a:off x="8613648" y="549554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Live-Dashboard mit Auto-Refresh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5583B239-D009-115E-F20A-07A7CD705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17140" y="-937234"/>
            <a:ext cx="4731940" cy="3154627"/>
          </a:xfrm>
          <a:prstGeom prst="rect">
            <a:avLst/>
          </a:prstGeom>
        </p:spPr>
      </p:pic>
      <p:pic>
        <p:nvPicPr>
          <p:cNvPr id="25" name="Grafik 24">
            <a:extLst>
              <a:ext uri="{FF2B5EF4-FFF2-40B4-BE49-F238E27FC236}">
                <a16:creationId xmlns:a16="http://schemas.microsoft.com/office/drawing/2014/main" id="{30B4EDC4-29F6-7322-FBB1-1BF691944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46" y="2399338"/>
            <a:ext cx="7243011" cy="40453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&amp; BUSINESS CASE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Warum rechnet sich WestLogiX in 4,8 Tagen?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8" name="Text 5"/>
          <p:cNvSpPr/>
          <p:nvPr/>
        </p:nvSpPr>
        <p:spPr>
          <a:xfrm>
            <a:off x="45720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Kennzahl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7180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Text 7"/>
          <p:cNvSpPr/>
          <p:nvPr/>
        </p:nvSpPr>
        <p:spPr>
          <a:xfrm>
            <a:off x="306324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Vorher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7784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2" name="Text 9"/>
          <p:cNvSpPr/>
          <p:nvPr/>
        </p:nvSpPr>
        <p:spPr>
          <a:xfrm>
            <a:off x="566928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WestLogiX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83880" y="1828800"/>
            <a:ext cx="2560320" cy="530352"/>
          </a:xfrm>
          <a:prstGeom prst="rect">
            <a:avLst/>
          </a:prstGeom>
          <a:solidFill>
            <a:srgbClr val="1B3A6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4" name="Text 11"/>
          <p:cNvSpPr/>
          <p:nvPr/>
        </p:nvSpPr>
        <p:spPr>
          <a:xfrm>
            <a:off x="8275320" y="1892808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Erklärung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576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6" name="Text 13"/>
          <p:cNvSpPr/>
          <p:nvPr/>
        </p:nvSpPr>
        <p:spPr>
          <a:xfrm>
            <a:off x="45720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 / Schicht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971800" y="2395728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8" name="Text 15"/>
          <p:cNvSpPr/>
          <p:nvPr/>
        </p:nvSpPr>
        <p:spPr>
          <a:xfrm>
            <a:off x="306324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577840" y="2395728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0" name="Text 17"/>
          <p:cNvSpPr/>
          <p:nvPr/>
        </p:nvSpPr>
        <p:spPr>
          <a:xfrm>
            <a:off x="566928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13 %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83880" y="2395728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2" name="Text 19"/>
          <p:cNvSpPr/>
          <p:nvPr/>
        </p:nvSpPr>
        <p:spPr>
          <a:xfrm>
            <a:off x="8275320" y="24597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TSP-Algorithmus bündelt Picks nach Nähe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6576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4" name="Text 21"/>
          <p:cNvSpPr/>
          <p:nvPr/>
        </p:nvSpPr>
        <p:spPr>
          <a:xfrm>
            <a:off x="45720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Genauigkeit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2971800" y="2962656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6" name="Text 23"/>
          <p:cNvSpPr/>
          <p:nvPr/>
        </p:nvSpPr>
        <p:spPr>
          <a:xfrm>
            <a:off x="306324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±45 Min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5577840" y="2962656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8" name="Text 25"/>
          <p:cNvSpPr/>
          <p:nvPr/>
        </p:nvSpPr>
        <p:spPr>
          <a:xfrm>
            <a:off x="566928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±4 Min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83880" y="2962656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0" name="Text 27"/>
          <p:cNvSpPr/>
          <p:nvPr/>
        </p:nvSpPr>
        <p:spPr>
          <a:xfrm>
            <a:off x="8275320" y="302666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Echtzeit-Berechnung auf Basis Performance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6576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2" name="Text 29"/>
          <p:cNvSpPr/>
          <p:nvPr/>
        </p:nvSpPr>
        <p:spPr>
          <a:xfrm>
            <a:off x="45720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/ Stunde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971800" y="3529584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4" name="Text 31"/>
          <p:cNvSpPr/>
          <p:nvPr/>
        </p:nvSpPr>
        <p:spPr>
          <a:xfrm>
            <a:off x="306324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Ø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577840" y="3529584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6" name="Text 33"/>
          <p:cNvSpPr/>
          <p:nvPr/>
        </p:nvSpPr>
        <p:spPr>
          <a:xfrm>
            <a:off x="566928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Ø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8183880" y="3529584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8" name="Text 35"/>
          <p:cNvSpPr/>
          <p:nvPr/>
        </p:nvSpPr>
        <p:spPr>
          <a:xfrm>
            <a:off x="8275320" y="3593592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+21% durch weniger Leerlauf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36576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0" name="Text 37"/>
          <p:cNvSpPr/>
          <p:nvPr/>
        </p:nvSpPr>
        <p:spPr>
          <a:xfrm>
            <a:off x="45720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Planungsaufwand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2971800" y="40965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2" name="Text 39"/>
          <p:cNvSpPr/>
          <p:nvPr/>
        </p:nvSpPr>
        <p:spPr>
          <a:xfrm>
            <a:off x="306324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/ Tag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5577840" y="4096512"/>
            <a:ext cx="2560320" cy="530352"/>
          </a:xfrm>
          <a:prstGeom prst="rect">
            <a:avLst/>
          </a:prstGeom>
          <a:solidFill>
            <a:srgbClr val="E8FAF5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4" name="Text 41"/>
          <p:cNvSpPr/>
          <p:nvPr/>
        </p:nvSpPr>
        <p:spPr>
          <a:xfrm>
            <a:off x="566928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45" name="Shape 42"/>
          <p:cNvSpPr/>
          <p:nvPr/>
        </p:nvSpPr>
        <p:spPr>
          <a:xfrm>
            <a:off x="8183880" y="4096512"/>
            <a:ext cx="2560320" cy="530352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6" name="Text 43"/>
          <p:cNvSpPr/>
          <p:nvPr/>
        </p:nvSpPr>
        <p:spPr>
          <a:xfrm>
            <a:off x="8275320" y="41605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übernimmt Disposition automatisch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365760" y="4754880"/>
            <a:ext cx="685800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48" name="Text 45"/>
          <p:cNvSpPr/>
          <p:nvPr/>
        </p:nvSpPr>
        <p:spPr>
          <a:xfrm>
            <a:off x="548640" y="4846320"/>
            <a:ext cx="6492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Wie rechnet sich das?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48640" y="5230368"/>
            <a:ext cx="6492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Beispiel: 30 Picker · 8h Schicht · Ø 25 €/h Lohnkosten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Wegezeit-Einsparung: 22% = 1,76h/Tag/Picker = 52,8h/Tag gesamt = ~1.320 €/Tag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Starter: 800 €/Monat → Amortisation in 4,8 Arbeitstagen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498080" y="1828800"/>
            <a:ext cx="4389120" cy="274320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1" name="Text 48"/>
          <p:cNvSpPr/>
          <p:nvPr/>
        </p:nvSpPr>
        <p:spPr>
          <a:xfrm>
            <a:off x="7589520" y="196596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€4.200</a:t>
            </a:r>
            <a:endParaRPr lang="en-US" sz="5200" dirty="0"/>
          </a:p>
        </p:txBody>
      </p:sp>
      <p:sp>
        <p:nvSpPr>
          <p:cNvPr id="52" name="Text 49"/>
          <p:cNvSpPr/>
          <p:nvPr/>
        </p:nvSpPr>
        <p:spPr>
          <a:xfrm>
            <a:off x="7589520" y="29260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Ersparnis / Monat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7680960" y="3291840"/>
            <a:ext cx="4114800" cy="0"/>
          </a:xfrm>
          <a:prstGeom prst="line">
            <a:avLst/>
          </a:prstGeom>
          <a:noFill/>
          <a:ln w="12700">
            <a:solidFill>
              <a:srgbClr val="B8D4E8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4" name="Text 51"/>
          <p:cNvSpPr/>
          <p:nvPr/>
        </p:nvSpPr>
        <p:spPr>
          <a:xfrm>
            <a:off x="7589520" y="3364992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800 €/Mon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Einsparung 4.200 €/Mon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Netto +3.400 €/Mon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7498080" y="4754880"/>
            <a:ext cx="4389120" cy="1691640"/>
          </a:xfrm>
          <a:prstGeom prst="rect">
            <a:avLst/>
          </a:prstGeom>
          <a:solidFill>
            <a:srgbClr val="F4F8FB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56" name="Text 53"/>
          <p:cNvSpPr/>
          <p:nvPr/>
        </p:nvSpPr>
        <p:spPr>
          <a:xfrm>
            <a:off x="7589520" y="4892040"/>
            <a:ext cx="4206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 Tage bis ROI</a:t>
            </a:r>
            <a:endParaRPr lang="en-US" sz="2600" dirty="0"/>
          </a:p>
        </p:txBody>
      </p:sp>
      <p:sp>
        <p:nvSpPr>
          <p:cNvPr id="57" name="Text 54"/>
          <p:cNvSpPr/>
          <p:nvPr/>
        </p:nvSpPr>
        <p:spPr>
          <a:xfrm>
            <a:off x="7589520" y="54864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30 Pickern · 8h Schicht · 25 €/h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589520" y="58338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Skaliert mit Lagergröße</a:t>
            </a:r>
            <a:endParaRPr lang="en-US" sz="1050" dirty="0"/>
          </a:p>
        </p:txBody>
      </p:sp>
      <p:sp>
        <p:nvSpPr>
          <p:cNvPr id="59" name="Text 56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pic>
        <p:nvPicPr>
          <p:cNvPr id="60" name="Grafik 59">
            <a:extLst>
              <a:ext uri="{FF2B5EF4-FFF2-40B4-BE49-F238E27FC236}">
                <a16:creationId xmlns:a16="http://schemas.microsoft.com/office/drawing/2014/main" id="{CE46EB88-F72D-08EC-BB93-F20BFFDE58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als nächstes kommt.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457200" y="1920240"/>
            <a:ext cx="3566160" cy="4480560"/>
          </a:xfrm>
          <a:prstGeom prst="rect">
            <a:avLst/>
          </a:prstGeom>
          <a:solidFill>
            <a:srgbClr val="E8FAF5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" name="Shape 5"/>
          <p:cNvSpPr/>
          <p:nvPr/>
        </p:nvSpPr>
        <p:spPr>
          <a:xfrm>
            <a:off x="457200" y="1920240"/>
            <a:ext cx="3566160" cy="5029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Heute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58368" y="263347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1" name="Text 8"/>
          <p:cNvSpPr/>
          <p:nvPr/>
        </p:nvSpPr>
        <p:spPr>
          <a:xfrm>
            <a:off x="85953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Route Engine (TSP)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58368" y="3291840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3" name="Text 10"/>
          <p:cNvSpPr/>
          <p:nvPr/>
        </p:nvSpPr>
        <p:spPr>
          <a:xfrm>
            <a:off x="85953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Picker Intelligence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58368" y="39502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5" name="Text 12"/>
          <p:cNvSpPr/>
          <p:nvPr/>
        </p:nvSpPr>
        <p:spPr>
          <a:xfrm>
            <a:off x="85953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Engine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58368" y="460857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7" name="Text 14"/>
          <p:cNvSpPr/>
          <p:nvPr/>
        </p:nvSpPr>
        <p:spPr>
          <a:xfrm>
            <a:off x="85953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+ Chat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58368" y="526694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9" name="Text 16"/>
          <p:cNvSpPr/>
          <p:nvPr/>
        </p:nvSpPr>
        <p:spPr>
          <a:xfrm>
            <a:off x="859536" y="522122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EWM OData Connect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206240" y="1920240"/>
            <a:ext cx="3566160" cy="448056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1" name="Shape 18"/>
          <p:cNvSpPr/>
          <p:nvPr/>
        </p:nvSpPr>
        <p:spPr>
          <a:xfrm>
            <a:off x="4206240" y="1920240"/>
            <a:ext cx="356616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2" name="Text 19"/>
          <p:cNvSpPr/>
          <p:nvPr/>
        </p:nvSpPr>
        <p:spPr>
          <a:xfrm>
            <a:off x="438912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4407408" y="263347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4" name="Text 21"/>
          <p:cNvSpPr/>
          <p:nvPr/>
        </p:nvSpPr>
        <p:spPr>
          <a:xfrm>
            <a:off x="460857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Forecast (24h Prognose)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407408" y="3291840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6" name="Text 23"/>
          <p:cNvSpPr/>
          <p:nvPr/>
        </p:nvSpPr>
        <p:spPr>
          <a:xfrm>
            <a:off x="460857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Historische Datenanalyse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4407408" y="39502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8" name="Text 25"/>
          <p:cNvSpPr/>
          <p:nvPr/>
        </p:nvSpPr>
        <p:spPr>
          <a:xfrm>
            <a:off x="460857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Mitarbeiter-Performance Tracking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4407408" y="460857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0" name="Text 27"/>
          <p:cNvSpPr/>
          <p:nvPr/>
        </p:nvSpPr>
        <p:spPr>
          <a:xfrm>
            <a:off x="460857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Automatische Schichtplanung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7955280" y="1920240"/>
            <a:ext cx="3566160" cy="448056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2" name="Shape 29"/>
          <p:cNvSpPr/>
          <p:nvPr/>
        </p:nvSpPr>
        <p:spPr>
          <a:xfrm>
            <a:off x="7955280" y="1920240"/>
            <a:ext cx="3566160" cy="5029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3" name="Text 30"/>
          <p:cNvSpPr/>
          <p:nvPr/>
        </p:nvSpPr>
        <p:spPr>
          <a:xfrm>
            <a:off x="8138160" y="19659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8156448" y="263347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5" name="Text 32"/>
          <p:cNvSpPr/>
          <p:nvPr/>
        </p:nvSpPr>
        <p:spPr>
          <a:xfrm>
            <a:off x="8357616" y="2587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EWM Rückschreiben (WO-Erstellung)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8156448" y="3291840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7" name="Text 34"/>
          <p:cNvSpPr/>
          <p:nvPr/>
        </p:nvSpPr>
        <p:spPr>
          <a:xfrm>
            <a:off x="8357616" y="32461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Multi-Lager Support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8156448" y="39502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9" name="Text 36"/>
          <p:cNvSpPr/>
          <p:nvPr/>
        </p:nvSpPr>
        <p:spPr>
          <a:xfrm>
            <a:off x="8357616" y="39044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für Picker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8156448" y="460857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1" name="Text 38"/>
          <p:cNvSpPr/>
          <p:nvPr/>
        </p:nvSpPr>
        <p:spPr>
          <a:xfrm>
            <a:off x="8357616" y="456285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BTP Integration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pic>
        <p:nvPicPr>
          <p:cNvPr id="43" name="Grafik 42">
            <a:extLst>
              <a:ext uri="{FF2B5EF4-FFF2-40B4-BE49-F238E27FC236}">
                <a16:creationId xmlns:a16="http://schemas.microsoft.com/office/drawing/2014/main" id="{763E99D6-5AD9-5D4D-A392-803D6DC52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EDF4F9"/>
          </a:solidFill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320040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MÖGLICHE ZUSAMMENARBEIT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können wir gemeinsam Mehrwert schaffen?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457200" y="17556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Ich bin offen für verschiedene Formen der Zusammenarbeit – je nachdem was für euch und eure Kunden am meisten Sinn macht.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377440"/>
            <a:ext cx="3566160" cy="4069080"/>
          </a:xfrm>
          <a:prstGeom prst="rect">
            <a:avLst/>
          </a:prstGeom>
          <a:solidFill>
            <a:srgbClr val="F0FAFA"/>
          </a:solidFill>
          <a:ln w="12700">
            <a:solidFill>
              <a:srgbClr val="00A89D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9" name="Shape 6"/>
          <p:cNvSpPr/>
          <p:nvPr/>
        </p:nvSpPr>
        <p:spPr>
          <a:xfrm>
            <a:off x="457200" y="2377440"/>
            <a:ext cx="3566160" cy="45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0" name="Text 7"/>
          <p:cNvSpPr/>
          <p:nvPr/>
        </p:nvSpPr>
        <p:spPr>
          <a:xfrm>
            <a:off x="64008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Gemeinsame Kundenprojekte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Naheliegendste Option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4008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3" name="Shape 10"/>
          <p:cNvSpPr/>
          <p:nvPr/>
        </p:nvSpPr>
        <p:spPr>
          <a:xfrm>
            <a:off x="658368" y="3456432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4" name="Text 11"/>
          <p:cNvSpPr/>
          <p:nvPr/>
        </p:nvSpPr>
        <p:spPr>
          <a:xfrm>
            <a:off x="85953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bringt EWM-Projekterfahrung ein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58368" y="4078224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6" name="Text 13"/>
          <p:cNvSpPr/>
          <p:nvPr/>
        </p:nvSpPr>
        <p:spPr>
          <a:xfrm>
            <a:off x="85953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liefert den KI-Layer dazu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58368" y="4700016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8" name="Text 15"/>
          <p:cNvSpPr/>
          <p:nvPr/>
        </p:nvSpPr>
        <p:spPr>
          <a:xfrm>
            <a:off x="85953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 stärker als alleine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58368" y="5321808"/>
            <a:ext cx="109728" cy="109728"/>
          </a:xfrm>
          <a:prstGeom prst="ellipse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0" name="Text 17"/>
          <p:cNvSpPr/>
          <p:nvPr/>
        </p:nvSpPr>
        <p:spPr>
          <a:xfrm>
            <a:off x="85953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Aufteilung nach Aufwand / Expertise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4206240" y="2377440"/>
            <a:ext cx="3566160" cy="4069080"/>
          </a:xfrm>
          <a:prstGeom prst="rect">
            <a:avLst/>
          </a:prstGeom>
          <a:solidFill>
            <a:srgbClr val="EEF2F8"/>
          </a:solidFill>
          <a:ln w="12700">
            <a:solidFill>
              <a:srgbClr val="1B3A6B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22" name="Shape 19"/>
          <p:cNvSpPr/>
          <p:nvPr/>
        </p:nvSpPr>
        <p:spPr>
          <a:xfrm>
            <a:off x="4206240" y="2377440"/>
            <a:ext cx="3566160" cy="45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3" name="Text 20"/>
          <p:cNvSpPr/>
          <p:nvPr/>
        </p:nvSpPr>
        <p:spPr>
          <a:xfrm>
            <a:off x="438912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Produktintegration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38912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strategisch passt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38912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6" name="Shape 23"/>
          <p:cNvSpPr/>
          <p:nvPr/>
        </p:nvSpPr>
        <p:spPr>
          <a:xfrm>
            <a:off x="4407408" y="3456432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7" name="Text 24"/>
          <p:cNvSpPr/>
          <p:nvPr/>
        </p:nvSpPr>
        <p:spPr>
          <a:xfrm>
            <a:off x="460857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WestLogiX als Add-on in euer Portfolio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407408" y="4078224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9" name="Text 26"/>
          <p:cNvSpPr/>
          <p:nvPr/>
        </p:nvSpPr>
        <p:spPr>
          <a:xfrm>
            <a:off x="460857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Anpassung an euer Branding möglich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4407408" y="4700016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1" name="Text 28"/>
          <p:cNvSpPr/>
          <p:nvPr/>
        </p:nvSpPr>
        <p:spPr>
          <a:xfrm>
            <a:off x="460857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kennt eure Kunden – ich die Technik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4407408" y="5321808"/>
            <a:ext cx="109728" cy="109728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3" name="Text 30"/>
          <p:cNvSpPr/>
          <p:nvPr/>
        </p:nvSpPr>
        <p:spPr>
          <a:xfrm>
            <a:off x="460857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Gemeinsame Weiterentwicklung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7955280" y="2377440"/>
            <a:ext cx="3566160" cy="4069080"/>
          </a:xfrm>
          <a:prstGeom prst="rect">
            <a:avLst/>
          </a:prstGeom>
          <a:solidFill>
            <a:srgbClr val="FEF9EE"/>
          </a:solidFill>
          <a:ln w="12700">
            <a:solidFill>
              <a:srgbClr val="F5A623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35" name="Shape 32"/>
          <p:cNvSpPr/>
          <p:nvPr/>
        </p:nvSpPr>
        <p:spPr>
          <a:xfrm>
            <a:off x="7955280" y="2377440"/>
            <a:ext cx="3566160" cy="45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6" name="Text 33"/>
          <p:cNvSpPr/>
          <p:nvPr/>
        </p:nvSpPr>
        <p:spPr>
          <a:xfrm>
            <a:off x="8138160" y="248716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Einfach erstmal reden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8138160" y="2926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unkomplizierteste Einstieg</a:t>
            </a:r>
            <a:endParaRPr lang="en-US" sz="1050" dirty="0"/>
          </a:p>
        </p:txBody>
      </p:sp>
      <p:sp>
        <p:nvSpPr>
          <p:cNvPr id="38" name="Shape 35"/>
          <p:cNvSpPr/>
          <p:nvPr/>
        </p:nvSpPr>
        <p:spPr>
          <a:xfrm>
            <a:off x="8138160" y="3291840"/>
            <a:ext cx="320040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9" name="Shape 36"/>
          <p:cNvSpPr/>
          <p:nvPr/>
        </p:nvSpPr>
        <p:spPr>
          <a:xfrm>
            <a:off x="8156448" y="3456432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0" name="Text 37"/>
          <p:cNvSpPr/>
          <p:nvPr/>
        </p:nvSpPr>
        <p:spPr>
          <a:xfrm>
            <a:off x="8357616" y="341071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Kunden wo das passt?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8156448" y="4078224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2" name="Text 39"/>
          <p:cNvSpPr/>
          <p:nvPr/>
        </p:nvSpPr>
        <p:spPr>
          <a:xfrm>
            <a:off x="8357616" y="403250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laufen eure EWM-Projekte?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8156448" y="4700016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4" name="Text 41"/>
          <p:cNvSpPr/>
          <p:nvPr/>
        </p:nvSpPr>
        <p:spPr>
          <a:xfrm>
            <a:off x="8357616" y="465429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fehlt euren Kunden heute?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8156448" y="5321808"/>
            <a:ext cx="109728" cy="109728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46" name="Text 43"/>
          <p:cNvSpPr/>
          <p:nvPr/>
        </p:nvSpPr>
        <p:spPr>
          <a:xfrm>
            <a:off x="8357616" y="527608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Commitment nötig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pic>
        <p:nvPicPr>
          <p:cNvPr id="48" name="Grafik 47">
            <a:extLst>
              <a:ext uri="{FF2B5EF4-FFF2-40B4-BE49-F238E27FC236}">
                <a16:creationId xmlns:a16="http://schemas.microsoft.com/office/drawing/2014/main" id="{768DB604-0CD4-CA1A-03FC-537D8EE85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26098" y="-937234"/>
            <a:ext cx="4731940" cy="31546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54864" cy="6858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5" name="Text 2"/>
          <p:cNvSpPr/>
          <p:nvPr/>
        </p:nvSpPr>
        <p:spPr>
          <a:xfrm>
            <a:off x="502920" y="1219317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0292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Schlage ich für heute vor?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502920" y="233172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8" name="Shape 5"/>
          <p:cNvSpPr/>
          <p:nvPr/>
        </p:nvSpPr>
        <p:spPr>
          <a:xfrm>
            <a:off x="502920" y="2331720"/>
            <a:ext cx="54864" cy="1188720"/>
          </a:xfrm>
          <a:prstGeom prst="rect">
            <a:avLst/>
          </a:prstGeom>
          <a:solidFill>
            <a:srgbClr val="00A89D"/>
          </a:solidFill>
          <a:ln w="12700">
            <a:solidFill>
              <a:srgbClr val="00A89D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9" name="Text 6"/>
          <p:cNvSpPr/>
          <p:nvPr/>
        </p:nvSpPr>
        <p:spPr>
          <a:xfrm>
            <a:off x="685800" y="240487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8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89888" y="242316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Kunden-Use-Case identifizieren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89888" y="283464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es aktuell ein EWM-Projekt oder einen Kunden der mit langen Wegezeiten oder schlechter ETA kämpft? Den schauen wir uns gemeinsam an.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3" name="Shape 10"/>
          <p:cNvSpPr/>
          <p:nvPr/>
        </p:nvSpPr>
        <p:spPr>
          <a:xfrm>
            <a:off x="502920" y="3657600"/>
            <a:ext cx="54864" cy="11887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4" name="Text 11"/>
          <p:cNvSpPr/>
          <p:nvPr/>
        </p:nvSpPr>
        <p:spPr>
          <a:xfrm>
            <a:off x="685800" y="373075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389888" y="37490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&amp; nächste Idee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89888" y="416052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 schauen gemeinsam wo WestLogiX bei euren Kunden passt. Gibt es ein Projekt wo der Ansatz sofort Sinn macht? Das klären wir heute.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4983480"/>
            <a:ext cx="112471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8F0"/>
            </a:solidFill>
            <a:prstDash val="solid"/>
          </a:ln>
          <a:effectLst>
            <a:outerShdw blurRad="76200" dist="25400" dir="8100000" algn="bl" rotWithShape="0">
              <a:srgbClr val="1B3A6B">
                <a:alpha val="7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8" name="Shape 15"/>
          <p:cNvSpPr/>
          <p:nvPr/>
        </p:nvSpPr>
        <p:spPr>
          <a:xfrm>
            <a:off x="502920" y="4983480"/>
            <a:ext cx="54864" cy="11887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19" name="Text 16"/>
          <p:cNvSpPr/>
          <p:nvPr/>
        </p:nvSpPr>
        <p:spPr>
          <a:xfrm>
            <a:off x="685800" y="5056632"/>
            <a:ext cx="594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389888" y="507492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der Zusammenarbeit besprechen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89888" y="54864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Vertragsdruck heute. Erstmal schauen was für alle Seiten Sinn macht und was wirklich funktioniert.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02920" y="6309360"/>
            <a:ext cx="11247120" cy="0"/>
          </a:xfrm>
          <a:prstGeom prst="line">
            <a:avLst/>
          </a:prstGeom>
          <a:noFill/>
          <a:ln w="12700">
            <a:solidFill>
              <a:srgbClr val="DCE8F0"/>
            </a:solidFill>
            <a:prstDash val="solid"/>
          </a:ln>
        </p:spPr>
        <p:txBody>
          <a:bodyPr/>
          <a:lstStyle/>
          <a:p>
            <a:endParaRPr lang="de-DE" dirty="0"/>
          </a:p>
        </p:txBody>
      </p:sp>
      <p:sp>
        <p:nvSpPr>
          <p:cNvPr id="23" name="Text 20"/>
          <p:cNvSpPr/>
          <p:nvPr/>
        </p:nvSpPr>
        <p:spPr>
          <a:xfrm>
            <a:off x="502920" y="638251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West  ·  WestLogiX  ·  kevinwesti@yahoo.de  ·  linkedin.com/in/kevinwest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1612880" y="65836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900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92F86B8E-EFB2-CA46-B5B9-8F53F7C8B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7137" y="-1014060"/>
            <a:ext cx="5183723" cy="34558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1391</Words>
  <Application>Microsoft Office PowerPoint</Application>
  <PresentationFormat>Breitbild</PresentationFormat>
  <Paragraphs>210</Paragraphs>
  <Slides>9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WestLogiX – Smart Pick Engine</dc:title>
  <dc:subject>PptxGenJS Presentation</dc:subject>
  <dc:creator>PptxGenJS</dc:creator>
  <cp:lastModifiedBy>Kevin West</cp:lastModifiedBy>
  <cp:revision>12</cp:revision>
  <dcterms:created xsi:type="dcterms:W3CDTF">2026-05-06T05:05:26Z</dcterms:created>
  <dcterms:modified xsi:type="dcterms:W3CDTF">2026-05-17T08:42:47Z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b4d030b-e3a8-447d-a0d8-f75bc1480528_Enabled">
    <vt:lpwstr>true</vt:lpwstr>
  </property>
  <property fmtid="{D5CDD505-2E9C-101B-9397-08002B2CF9AE}" pid="3" name="MSIP_Label_8b4d030b-e3a8-447d-a0d8-f75bc1480528_SetDate">
    <vt:lpwstr>2026-05-06T06:10:50Z</vt:lpwstr>
  </property>
  <property fmtid="{D5CDD505-2E9C-101B-9397-08002B2CF9AE}" pid="4" name="MSIP_Label_8b4d030b-e3a8-447d-a0d8-f75bc1480528_Method">
    <vt:lpwstr>Standard</vt:lpwstr>
  </property>
  <property fmtid="{D5CDD505-2E9C-101B-9397-08002B2CF9AE}" pid="5" name="MSIP_Label_8b4d030b-e3a8-447d-a0d8-f75bc1480528_Name">
    <vt:lpwstr>Confidential</vt:lpwstr>
  </property>
  <property fmtid="{D5CDD505-2E9C-101B-9397-08002B2CF9AE}" pid="6" name="MSIP_Label_8b4d030b-e3a8-447d-a0d8-f75bc1480528_SiteId">
    <vt:lpwstr>bab8ae91-c774-40ac-9d72-282d0f55f03a</vt:lpwstr>
  </property>
  <property fmtid="{D5CDD505-2E9C-101B-9397-08002B2CF9AE}" pid="7" name="MSIP_Label_8b4d030b-e3a8-447d-a0d8-f75bc1480528_ActionId">
    <vt:lpwstr>7a0db453-be0d-417f-8fe7-9fe8db55957d</vt:lpwstr>
  </property>
  <property fmtid="{D5CDD505-2E9C-101B-9397-08002B2CF9AE}" pid="8" name="MSIP_Label_8b4d030b-e3a8-447d-a0d8-f75bc1480528_ContentBits">
    <vt:lpwstr>2</vt:lpwstr>
  </property>
  <property fmtid="{D5CDD505-2E9C-101B-9397-08002B2CF9AE}" pid="9" name="MSIP_Label_8b4d030b-e3a8-447d-a0d8-f75bc1480528_Tag">
    <vt:lpwstr>10, 3, 0, 1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Confidential</vt:lpwstr>
  </property>
</Properties>
</file>