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58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226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DCBF1E3A-D4B9-95DF-8BA2-5F715B21E55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452225" y="6642100"/>
            <a:ext cx="701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64008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Mai 2026  ·  neoimpulse GmbH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1124712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50292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Lager.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502920" y="2606040"/>
            <a:ext cx="9144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 intelligent.</a:t>
            </a:r>
            <a:endParaRPr lang="en-US" sz="5600" dirty="0"/>
          </a:p>
        </p:txBody>
      </p:sp>
      <p:sp>
        <p:nvSpPr>
          <p:cNvPr id="9" name="Text 6"/>
          <p:cNvSpPr/>
          <p:nvPr/>
        </p:nvSpPr>
        <p:spPr>
          <a:xfrm>
            <a:off x="502920" y="36118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KI-gestützte Optimierung für SAP EWM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Wegezeiten · Picker-Planung · Echtzeit-ETA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8"/>
          <p:cNvSpPr/>
          <p:nvPr/>
        </p:nvSpPr>
        <p:spPr>
          <a:xfrm>
            <a:off x="502920" y="4846320"/>
            <a:ext cx="269748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59436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–62%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59436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2"/>
          <p:cNvSpPr/>
          <p:nvPr/>
        </p:nvSpPr>
        <p:spPr>
          <a:xfrm>
            <a:off x="3429000" y="4846320"/>
            <a:ext cx="269748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352044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352044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Genauigkeit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5508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6"/>
          <p:cNvSpPr/>
          <p:nvPr/>
        </p:nvSpPr>
        <p:spPr>
          <a:xfrm>
            <a:off x="6355080" y="4846320"/>
            <a:ext cx="269748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644652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644652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Pick-Kapazität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418320" y="5029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Präsentiert von Kevin West</a:t>
            </a:r>
            <a:endParaRPr lang="en-US" sz="10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A792E6EC-8572-CEF8-A4DD-E1A01C81A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7575" y="-87774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EWM verwaltet.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optimiert es wirklich?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64008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4008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 Wegezeiten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vergibt Aufgaben ohne Picker-Position oder optimale Reihenfolge zu kennen. 35% der Schichtzeit = reine Laufzeit.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73152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Schichtzeit = Laufzeit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0624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3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438912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⏸️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38912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Unplanbare Pausen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38912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Pausen und Fokuszeiten sind für EWM unsichtbar. Aufträge landen bei Mitarbeitern die gerade nicht verfügbar sind.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8912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448056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Min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48056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Wartezeit / Auftrag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5528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1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2"/>
          <p:cNvSpPr/>
          <p:nvPr/>
        </p:nvSpPr>
        <p:spPr>
          <a:xfrm>
            <a:off x="813816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❓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813816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echte ETA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13816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"Wann ist der Auftrag fertig?" – niemand kann es sicher beantworten. Versand plant mit ±45 Min Puffer. Lkw warten.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813816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6"/>
          <p:cNvSpPr/>
          <p:nvPr/>
        </p:nvSpPr>
        <p:spPr>
          <a:xfrm>
            <a:off x="822960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±45 Min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22960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ETA-Abweichung heute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52B11374-C5D3-CDC9-6344-C69F44760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– Smart Pick Engine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81051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KI-Agent der direkt mit SAP EWM spricht und in Echtzeit optimiert. Keine manuelle Koordination mehr.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206240"/>
          </a:xfrm>
          <a:prstGeom prst="rect">
            <a:avLst/>
          </a:prstGeom>
          <a:solidFill>
            <a:srgbClr val="F0FAFA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Route Engine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Nearest-Neighbor TSP berechnet die optimale Pick-Reihenfolge automatisch. Weniger Laufweg – mehr Picks pro Schicht.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73152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–62 %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73152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06240" y="2377440"/>
            <a:ext cx="3566160" cy="4206240"/>
          </a:xfrm>
          <a:prstGeom prst="rect">
            <a:avLst/>
          </a:prstGeom>
          <a:solidFill>
            <a:srgbClr val="EEF2F8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4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438912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8912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Intelligence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8912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verfügbar? Wer hat Pause? Wer pickt am schnellsten in Zone B? WestLogiX weiß es – und verteilt proaktiv.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8912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448056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+20 %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448056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Kapazität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955280" y="2377440"/>
            <a:ext cx="3566160" cy="4206240"/>
          </a:xfrm>
          <a:prstGeom prst="rect">
            <a:avLst/>
          </a:prstGeom>
          <a:solidFill>
            <a:srgbClr val="FEF9EE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2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3"/>
          <p:cNvSpPr/>
          <p:nvPr/>
        </p:nvSpPr>
        <p:spPr>
          <a:xfrm>
            <a:off x="813816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13816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Engine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13816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Echtzeit-ETA pro Auftrag basierend auf Picker-Performance und aktueller Kapazität. Versand plant. Kein Raten mehr.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13816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822960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822960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05642FD3-6A46-EFBB-6418-AB398F1F8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ARCHITEKTUR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Plug-in. Nicht Umbau.</a:t>
            </a:r>
            <a:endParaRPr lang="en-US" sz="3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83080"/>
            <a:ext cx="7315200" cy="4754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955280" y="1783080"/>
            <a:ext cx="3931920" cy="475488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5"/>
          <p:cNvSpPr/>
          <p:nvPr/>
        </p:nvSpPr>
        <p:spPr>
          <a:xfrm>
            <a:off x="7955280" y="1783080"/>
            <a:ext cx="393192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813816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in 2 Stunden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13816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595360" y="251460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SEGW Service anlegen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595360" y="29169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Z-OData-Service in SAP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38160" y="3593592"/>
            <a:ext cx="356616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8138160" y="3703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595360" y="37033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deployen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595360" y="410565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lokal oder Cloud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138160" y="4782312"/>
            <a:ext cx="356616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813816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595360" y="48920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öffnen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595360" y="529437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 live – keine Client-Installation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38160" y="5806440"/>
            <a:ext cx="3566160" cy="59436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19"/>
          <p:cNvSpPr/>
          <p:nvPr/>
        </p:nvSpPr>
        <p:spPr>
          <a:xfrm>
            <a:off x="8229600" y="587044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Kein ABAP-Umbau  ·  ✓ Keine Migration  ·  ✓ Kein neues System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794-EF7B-2B23-FB72-F773004FA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– jetzt live.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75564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Agent läuft lokal auf </a:t>
            </a:r>
            <a:r>
              <a:rPr lang="en-US" sz="1300" dirty="0" err="1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meinem</a:t>
            </a: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PC und spricht direkt mit den Daten.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240280"/>
            <a:ext cx="7589520" cy="4251960"/>
          </a:xfrm>
          <a:prstGeom prst="rect">
            <a:avLst/>
          </a:prstGeom>
          <a:solidFill>
            <a:srgbClr val="EDF4F9"/>
          </a:solidFill>
          <a:ln w="12700">
            <a:solidFill>
              <a:srgbClr val="B8D4E8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9" name="Text 6"/>
          <p:cNvSpPr/>
          <p:nvPr/>
        </p:nvSpPr>
        <p:spPr>
          <a:xfrm>
            <a:off x="457200" y="2240280"/>
            <a:ext cx="7589520" cy="4251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Live Demo / Screenshot Dashboard ]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2240280"/>
            <a:ext cx="3657600" cy="425196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8"/>
          <p:cNvSpPr/>
          <p:nvPr/>
        </p:nvSpPr>
        <p:spPr>
          <a:xfrm>
            <a:off x="8229600" y="2240280"/>
            <a:ext cx="36576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8412480" y="235915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</a:t>
            </a:r>
            <a:r>
              <a:rPr lang="en-US" sz="13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</a:t>
            </a: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zeigen</a:t>
            </a: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412480" y="2907792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8613648" y="286207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mit 10 Aufträgen optimieren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412480" y="3566160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8613648" y="35204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Mitarbeiter-Verfügbarkeit abfragen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412480" y="4224528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8613648" y="417880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für Auftrag berechnen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412480" y="4882896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8613648" y="483717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natürliche Sprache → Daten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412480" y="5541264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8613648" y="549554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Live-Dashboard mit Auto-Refresh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5583B239-D009-115E-F20A-07A7CD705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17140" y="-937234"/>
            <a:ext cx="4731940" cy="3154627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30B4EDC4-29F6-7322-FBB1-1BF691944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46" y="2399338"/>
            <a:ext cx="7243011" cy="4045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BUSINESS CASE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rechnet sich WestLogiX in 4,8 Tagen?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45720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97180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306324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57784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566928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WestLogiX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8388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827532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Erklärung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2395728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45720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 / Schicht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971800" y="2395728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306324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577840" y="2395728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566928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183880" y="2395728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827532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TSP-Algorithmus bündelt Picks nach Nähe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2962656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45720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Genauigkeit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971800" y="2962656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3"/>
          <p:cNvSpPr/>
          <p:nvPr/>
        </p:nvSpPr>
        <p:spPr>
          <a:xfrm>
            <a:off x="306324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±45 Min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577840" y="2962656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5"/>
          <p:cNvSpPr/>
          <p:nvPr/>
        </p:nvSpPr>
        <p:spPr>
          <a:xfrm>
            <a:off x="566928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183880" y="2962656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827532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Echtzeit-Berechnung auf Basis Performance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29"/>
          <p:cNvSpPr/>
          <p:nvPr/>
        </p:nvSpPr>
        <p:spPr>
          <a:xfrm>
            <a:off x="45720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/ Stunde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971800" y="3529584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1"/>
          <p:cNvSpPr/>
          <p:nvPr/>
        </p:nvSpPr>
        <p:spPr>
          <a:xfrm>
            <a:off x="306324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Ø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577840" y="3529584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3"/>
          <p:cNvSpPr/>
          <p:nvPr/>
        </p:nvSpPr>
        <p:spPr>
          <a:xfrm>
            <a:off x="566928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Ø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183880" y="3529584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5"/>
          <p:cNvSpPr/>
          <p:nvPr/>
        </p:nvSpPr>
        <p:spPr>
          <a:xfrm>
            <a:off x="827532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+21% durch weniger Leerlauf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365760" y="4096512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7"/>
          <p:cNvSpPr/>
          <p:nvPr/>
        </p:nvSpPr>
        <p:spPr>
          <a:xfrm>
            <a:off x="45720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Planungsaufwand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971800" y="4096512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39"/>
          <p:cNvSpPr/>
          <p:nvPr/>
        </p:nvSpPr>
        <p:spPr>
          <a:xfrm>
            <a:off x="306324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 / Tag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577840" y="4096512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Text 41"/>
          <p:cNvSpPr/>
          <p:nvPr/>
        </p:nvSpPr>
        <p:spPr>
          <a:xfrm>
            <a:off x="566928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183880" y="4096512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3"/>
          <p:cNvSpPr/>
          <p:nvPr/>
        </p:nvSpPr>
        <p:spPr>
          <a:xfrm>
            <a:off x="827532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übernimmt Disposition automatisch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365760" y="4754880"/>
            <a:ext cx="6858000" cy="169164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8" name="Text 45"/>
          <p:cNvSpPr/>
          <p:nvPr/>
        </p:nvSpPr>
        <p:spPr>
          <a:xfrm>
            <a:off x="548640" y="48463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Wie rechnet sich das?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548640" y="5230368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30 Picker · 8h Schicht · Ø 25 €/h Lohnkosten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Wegezeit-Einsparung: 22% = 1,76h/Tag/Picker = 52,8h/Tag gesamt = ~1.320 €/Tag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Starter: 800 €/Monat → Amortisation in 4,8 Arbeitstagen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498080" y="1828800"/>
            <a:ext cx="4389120" cy="274320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1" name="Text 48"/>
          <p:cNvSpPr/>
          <p:nvPr/>
        </p:nvSpPr>
        <p:spPr>
          <a:xfrm>
            <a:off x="7589520" y="196596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€4.200</a:t>
            </a:r>
            <a:endParaRPr lang="en-US" sz="5200" dirty="0"/>
          </a:p>
        </p:txBody>
      </p:sp>
      <p:sp>
        <p:nvSpPr>
          <p:cNvPr id="52" name="Text 49"/>
          <p:cNvSpPr/>
          <p:nvPr/>
        </p:nvSpPr>
        <p:spPr>
          <a:xfrm>
            <a:off x="7589520" y="29260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Ersparnis / Monat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7680960" y="3291840"/>
            <a:ext cx="4114800" cy="0"/>
          </a:xfrm>
          <a:prstGeom prst="line">
            <a:avLst/>
          </a:prstGeom>
          <a:noFill/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4" name="Text 51"/>
          <p:cNvSpPr/>
          <p:nvPr/>
        </p:nvSpPr>
        <p:spPr>
          <a:xfrm>
            <a:off x="7589520" y="3364992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800 €/Mon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Einsparung 4.200 €/Mon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 +3.400 €/Mon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7498080" y="4754880"/>
            <a:ext cx="4389120" cy="169164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6" name="Text 53"/>
          <p:cNvSpPr/>
          <p:nvPr/>
        </p:nvSpPr>
        <p:spPr>
          <a:xfrm>
            <a:off x="7589520" y="48920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 Tage bis ROI</a:t>
            </a:r>
            <a:endParaRPr lang="en-US" sz="2600" dirty="0"/>
          </a:p>
        </p:txBody>
      </p:sp>
      <p:sp>
        <p:nvSpPr>
          <p:cNvPr id="57" name="Text 54"/>
          <p:cNvSpPr/>
          <p:nvPr/>
        </p:nvSpPr>
        <p:spPr>
          <a:xfrm>
            <a:off x="7589520" y="5486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30 Pickern · 8h Schicht · 25 €/h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589520" y="583387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Skaliert mit Lagergröße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CE46EB88-F72D-08EC-BB93-F20BFFDE5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als nächstes kommt.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566160" cy="448056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3566160" cy="5029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64008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8368" y="2633472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85953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Route Engine (TSP)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" y="3291840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85953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Intelligence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" y="3950208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85953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Engine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608576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85953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+ Chat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58368" y="5266944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859536" y="522122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EWM OData Connect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206240" y="1920240"/>
            <a:ext cx="3566160" cy="448056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Shape 18"/>
          <p:cNvSpPr/>
          <p:nvPr/>
        </p:nvSpPr>
        <p:spPr>
          <a:xfrm>
            <a:off x="4206240" y="1920240"/>
            <a:ext cx="356616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438912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407408" y="2633472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460857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Forecast (24h Prognose)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407408" y="3291840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3"/>
          <p:cNvSpPr/>
          <p:nvPr/>
        </p:nvSpPr>
        <p:spPr>
          <a:xfrm>
            <a:off x="460857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Historische Datenanalyse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407408" y="3950208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5"/>
          <p:cNvSpPr/>
          <p:nvPr/>
        </p:nvSpPr>
        <p:spPr>
          <a:xfrm>
            <a:off x="460857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Mitarbeiter-Performance Tracking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407408" y="4608576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460857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Schichtplanung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955280" y="1920240"/>
            <a:ext cx="3566160" cy="4480560"/>
          </a:xfrm>
          <a:prstGeom prst="rect">
            <a:avLst/>
          </a:prstGeom>
          <a:solidFill>
            <a:srgbClr val="FEF9EE"/>
          </a:solidFill>
          <a:ln w="12700">
            <a:solidFill>
              <a:srgbClr val="F5A623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29"/>
          <p:cNvSpPr/>
          <p:nvPr/>
        </p:nvSpPr>
        <p:spPr>
          <a:xfrm>
            <a:off x="7955280" y="1920240"/>
            <a:ext cx="356616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0"/>
          <p:cNvSpPr/>
          <p:nvPr/>
        </p:nvSpPr>
        <p:spPr>
          <a:xfrm>
            <a:off x="813816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156448" y="2633472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2"/>
          <p:cNvSpPr/>
          <p:nvPr/>
        </p:nvSpPr>
        <p:spPr>
          <a:xfrm>
            <a:off x="835761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Rückschreiben (WO-Erstellung)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8156448" y="329184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4"/>
          <p:cNvSpPr/>
          <p:nvPr/>
        </p:nvSpPr>
        <p:spPr>
          <a:xfrm>
            <a:off x="835761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Multi-Lager Support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156448" y="3950208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Text 36"/>
          <p:cNvSpPr/>
          <p:nvPr/>
        </p:nvSpPr>
        <p:spPr>
          <a:xfrm>
            <a:off x="835761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für Picker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156448" y="4608576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38"/>
          <p:cNvSpPr/>
          <p:nvPr/>
        </p:nvSpPr>
        <p:spPr>
          <a:xfrm>
            <a:off x="835761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BTP Integration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763E99D6-5AD9-5D4D-A392-803D6DC52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MÖGLICHE ZUSAMMENARBEIT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können wir gemeinsam Mehrwert schaffen?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57200" y="175564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bin offen für verschiedene Formen der Zusammenarbeit – je nachdem was für euch und eure Kunden am meisten Sinn macht.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069080"/>
          </a:xfrm>
          <a:prstGeom prst="rect">
            <a:avLst/>
          </a:prstGeom>
          <a:solidFill>
            <a:srgbClr val="F0FAFA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Gemeinsame Kundenprojekte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Naheliegendste Option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658368" y="3456432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85953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bringt EWM-Projekterfahrung ein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4078224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85953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liefert den KI-Layer dazu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700016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85953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stärker als alleine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5321808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85953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Aufteilung nach Aufwand / Expertise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206240" y="2377440"/>
            <a:ext cx="3566160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19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0"/>
          <p:cNvSpPr/>
          <p:nvPr/>
        </p:nvSpPr>
        <p:spPr>
          <a:xfrm>
            <a:off x="438912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Produktintegration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38912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es strategisch passt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38912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3"/>
          <p:cNvSpPr/>
          <p:nvPr/>
        </p:nvSpPr>
        <p:spPr>
          <a:xfrm>
            <a:off x="4407408" y="3456432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4"/>
          <p:cNvSpPr/>
          <p:nvPr/>
        </p:nvSpPr>
        <p:spPr>
          <a:xfrm>
            <a:off x="460857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als Add-on in euer Portfolio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407408" y="4078224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6"/>
          <p:cNvSpPr/>
          <p:nvPr/>
        </p:nvSpPr>
        <p:spPr>
          <a:xfrm>
            <a:off x="460857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Anpassung an euer Branding möglich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407408" y="4700016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8"/>
          <p:cNvSpPr/>
          <p:nvPr/>
        </p:nvSpPr>
        <p:spPr>
          <a:xfrm>
            <a:off x="460857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kennt eure Kunden – ich die Technik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407408" y="5321808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0"/>
          <p:cNvSpPr/>
          <p:nvPr/>
        </p:nvSpPr>
        <p:spPr>
          <a:xfrm>
            <a:off x="460857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Gemeinsame Weiterentwicklung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955280" y="2377440"/>
            <a:ext cx="3566160" cy="4069080"/>
          </a:xfrm>
          <a:prstGeom prst="rect">
            <a:avLst/>
          </a:prstGeom>
          <a:solidFill>
            <a:srgbClr val="FEF9EE"/>
          </a:solidFill>
          <a:ln w="12700">
            <a:solidFill>
              <a:srgbClr val="F5A623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5" name="Shape 32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3"/>
          <p:cNvSpPr/>
          <p:nvPr/>
        </p:nvSpPr>
        <p:spPr>
          <a:xfrm>
            <a:off x="813816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Einfach erstmal reden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13816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unkomplizierteste Einstieg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3816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6"/>
          <p:cNvSpPr/>
          <p:nvPr/>
        </p:nvSpPr>
        <p:spPr>
          <a:xfrm>
            <a:off x="8156448" y="3456432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7"/>
          <p:cNvSpPr/>
          <p:nvPr/>
        </p:nvSpPr>
        <p:spPr>
          <a:xfrm>
            <a:off x="835761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es Kunden wo das passt?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156448" y="4078224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39"/>
          <p:cNvSpPr/>
          <p:nvPr/>
        </p:nvSpPr>
        <p:spPr>
          <a:xfrm>
            <a:off x="835761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laufen eure EWM-Projekte?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156448" y="4700016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Text 41"/>
          <p:cNvSpPr/>
          <p:nvPr/>
        </p:nvSpPr>
        <p:spPr>
          <a:xfrm>
            <a:off x="835761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fehlt euren Kunden heute?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8156448" y="5321808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3"/>
          <p:cNvSpPr/>
          <p:nvPr/>
        </p:nvSpPr>
        <p:spPr>
          <a:xfrm>
            <a:off x="835761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Commitment nötig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768DB604-0CD4-CA1A-03FC-537D8EE85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502920" y="1219317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SCHRITTE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Schlage ich für heute vor?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02920" y="233172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502920" y="2331720"/>
            <a:ext cx="54864" cy="1188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685800" y="240487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389888" y="24231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Kunden-Use-Case identifizieren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389888" y="28346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es aktuell ein EWM-Projekt oder einen Kunden der mit langen Wegezeiten oder schlechter ETA kämpft? Den schauen wir uns gemeinsam an.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365760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502920" y="3657600"/>
            <a:ext cx="54864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685800" y="373075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89888" y="374904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nächste Idee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389888" y="4160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schauen gemeinsam wo WestLogiX bei euren Kunden passt. Gibt es ein Projekt wo der Ansatz sofort Sinn macht? Das klären wir heute.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498348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5"/>
          <p:cNvSpPr/>
          <p:nvPr/>
        </p:nvSpPr>
        <p:spPr>
          <a:xfrm>
            <a:off x="502920" y="4983480"/>
            <a:ext cx="54864" cy="1188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685800" y="505663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89888" y="507492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der Zusammenarbeit besprechen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89888" y="54864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Vertragsdruck heute. Erstmal schauen was für alle Seiten Sinn macht und was wirklich funktioniert.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02920" y="6309360"/>
            <a:ext cx="1124712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0"/>
          <p:cNvSpPr/>
          <p:nvPr/>
        </p:nvSpPr>
        <p:spPr>
          <a:xfrm>
            <a:off x="502920" y="638251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West  ·  WestLogiX  ·  kevinwesti@yahoo.de  ·  linkedin.com/in/kevinwest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92F86B8E-EFB2-CA46-B5B9-8F53F7C8B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7137" y="-1014060"/>
            <a:ext cx="5183723" cy="3455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804</Words>
  <Application>Microsoft Office PowerPoint</Application>
  <PresentationFormat>Breitbild</PresentationFormat>
  <Paragraphs>173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WestLogiX – Smart Pick Engine</dc:title>
  <dc:subject>PptxGenJS Presentation</dc:subject>
  <dc:creator>PptxGenJS</dc:creator>
  <cp:lastModifiedBy>Kevin West</cp:lastModifiedBy>
  <cp:revision>8</cp:revision>
  <dcterms:created xsi:type="dcterms:W3CDTF">2026-05-06T05:05:26Z</dcterms:created>
  <dcterms:modified xsi:type="dcterms:W3CDTF">2026-05-17T08:08:21Z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b4d030b-e3a8-447d-a0d8-f75bc1480528_Enabled">
    <vt:lpwstr>true</vt:lpwstr>
  </property>
  <property fmtid="{D5CDD505-2E9C-101B-9397-08002B2CF9AE}" pid="3" name="MSIP_Label_8b4d030b-e3a8-447d-a0d8-f75bc1480528_SetDate">
    <vt:lpwstr>2026-05-06T06:10:50Z</vt:lpwstr>
  </property>
  <property fmtid="{D5CDD505-2E9C-101B-9397-08002B2CF9AE}" pid="4" name="MSIP_Label_8b4d030b-e3a8-447d-a0d8-f75bc1480528_Method">
    <vt:lpwstr>Standard</vt:lpwstr>
  </property>
  <property fmtid="{D5CDD505-2E9C-101B-9397-08002B2CF9AE}" pid="5" name="MSIP_Label_8b4d030b-e3a8-447d-a0d8-f75bc1480528_Name">
    <vt:lpwstr>Confidential</vt:lpwstr>
  </property>
  <property fmtid="{D5CDD505-2E9C-101B-9397-08002B2CF9AE}" pid="6" name="MSIP_Label_8b4d030b-e3a8-447d-a0d8-f75bc1480528_SiteId">
    <vt:lpwstr>bab8ae91-c774-40ac-9d72-282d0f55f03a</vt:lpwstr>
  </property>
  <property fmtid="{D5CDD505-2E9C-101B-9397-08002B2CF9AE}" pid="7" name="MSIP_Label_8b4d030b-e3a8-447d-a0d8-f75bc1480528_ActionId">
    <vt:lpwstr>7a0db453-be0d-417f-8fe7-9fe8db55957d</vt:lpwstr>
  </property>
  <property fmtid="{D5CDD505-2E9C-101B-9397-08002B2CF9AE}" pid="8" name="MSIP_Label_8b4d030b-e3a8-447d-a0d8-f75bc1480528_ContentBits">
    <vt:lpwstr>2</vt:lpwstr>
  </property>
  <property fmtid="{D5CDD505-2E9C-101B-9397-08002B2CF9AE}" pid="9" name="MSIP_Label_8b4d030b-e3a8-447d-a0d8-f75bc1480528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Confidential</vt:lpwstr>
  </property>
</Properties>
</file>